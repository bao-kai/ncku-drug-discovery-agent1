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 code and PROJECT_STATUS.md in the canonical workspace; accessed 2026-08-16.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abel-AGENT 1｜WEEKLY PROGRESS-42">
            <a:extLst>
              <a:ext uri="{FF2B5EF4-FFF2-40B4-BE49-F238E27FC236}">
                <a16:creationId xmlns:a16="http://schemas.microsoft.com/office/drawing/2014/main" id="{7BB39768-3A0A-47DD-A7B0-76B3B6573B1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 1｜WEEKLY PROGRESS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8C66F665-2076-4A6E-A1C0-31761A04FB1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9144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本週進度報告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F1F1FBFA-0FAB-4B98-AF0D-6FA6859145FF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疾病候選 Target 探索、確定性查詢與內部分工</a:t>
            </a: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5519DEE7-BDE9-4403-880A-1DD6AA2677FC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2000250" cy="114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case">
            <a:extLst>
              <a:ext uri="{FF2B5EF4-FFF2-40B4-BE49-F238E27FC236}">
                <a16:creationId xmlns:a16="http://schemas.microsoft.com/office/drawing/2014/main" id="{AE053C02-25CB-4548-98EB-A7373498A72E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統一案例：pancreatic cancer × KRAS</a:t>
            </a:r>
          </a:p>
        </p:txBody>
      </p:sp>
    </p:spTree>
    <p:extLst>
      <p:ext uri="{BB962C8B-B14F-4D97-AF65-F5344CB8AC3E}">
        <p14:creationId xmlns:p14="http://schemas.microsoft.com/office/powerpoint/2010/main" val="106650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">
            <a:extLst>
              <a:ext uri="{FF2B5EF4-FFF2-40B4-BE49-F238E27FC236}">
                <a16:creationId xmlns:a16="http://schemas.microsoft.com/office/drawing/2014/main" id="{4E79DCBE-A4A2-48FE-929D-9297D48C720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本週完成三項 Agent 1 基礎能力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71E66A2D-39A9-46DE-90B8-35BE4E53E047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outcome1-bg">
            <a:extLst>
              <a:ext uri="{FF2B5EF4-FFF2-40B4-BE49-F238E27FC236}">
                <a16:creationId xmlns:a16="http://schemas.microsoft.com/office/drawing/2014/main" id="{8E5726D4-CBCC-44C3-88CA-7A12D309DC1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429000" cy="2476500"/>
          </a:xfrm>
          <a:prstGeom prst="roundRect">
            <a:avLst>
              <a:gd name="adj" fmla="val 3077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outcome1-heading">
            <a:extLst>
              <a:ext uri="{FF2B5EF4-FFF2-40B4-BE49-F238E27FC236}">
                <a16:creationId xmlns:a16="http://schemas.microsoft.com/office/drawing/2014/main" id="{80A5F4B9-B483-4F74-BE13-AEA505310F4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009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　疾病探索</a:t>
            </a:r>
          </a:p>
        </p:txBody>
      </p:sp>
      <p:sp>
        <p:nvSpPr>
          <p:cNvPr id="5" name="outcome1-detail">
            <a:extLst>
              <a:ext uri="{FF2B5EF4-FFF2-40B4-BE49-F238E27FC236}">
                <a16:creationId xmlns:a16="http://schemas.microsoft.com/office/drawing/2014/main" id="{9381E60C-E1FC-4363-A5F6-D1EC846697BE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只輸入疾病名稱，取得前 10 個候選 Targets。</a:t>
            </a:r>
          </a:p>
        </p:txBody>
      </p:sp>
      <p:sp>
        <p:nvSpPr>
          <p:cNvPr id="6" name="outcome2-bg">
            <a:extLst>
              <a:ext uri="{FF2B5EF4-FFF2-40B4-BE49-F238E27FC236}">
                <a16:creationId xmlns:a16="http://schemas.microsoft.com/office/drawing/2014/main" id="{A1A0653D-5FF7-4EBA-8C7C-E1AE467AC199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3429000" cy="2476500"/>
          </a:xfrm>
          <a:prstGeom prst="roundRect">
            <a:avLst>
              <a:gd name="adj" fmla="val 3077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outcome2-heading">
            <a:extLst>
              <a:ext uri="{FF2B5EF4-FFF2-40B4-BE49-F238E27FC236}">
                <a16:creationId xmlns:a16="http://schemas.microsoft.com/office/drawing/2014/main" id="{6D3EB051-923E-4440-9768-A1C70CBCFDA2}"/>
              </a:ext>
            </a:extLst>
          </p:cNvPr>
          <p:cNvSpPr>
            <a:spLocks noGrp="1"/>
          </p:cNvSpPr>
          <p:nvPr/>
        </p:nvSpPr>
        <p:spPr>
          <a:xfrm>
            <a:off x="4591050" y="2000250"/>
            <a:ext cx="3009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　確定性查詢</a:t>
            </a:r>
          </a:p>
        </p:txBody>
      </p:sp>
      <p:sp>
        <p:nvSpPr>
          <p:cNvPr id="8" name="outcome2-detail">
            <a:extLst>
              <a:ext uri="{FF2B5EF4-FFF2-40B4-BE49-F238E27FC236}">
                <a16:creationId xmlns:a16="http://schemas.microsoft.com/office/drawing/2014/main" id="{6FF385AF-B08F-49AF-B809-EA45A5FFADC2}"/>
              </a:ext>
            </a:extLst>
          </p:cNvPr>
          <p:cNvSpPr>
            <a:spLocks noGrp="1"/>
          </p:cNvSpPr>
          <p:nvPr/>
        </p:nvSpPr>
        <p:spPr>
          <a:xfrm>
            <a:off x="4591050" y="2571750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保留不經 LLM 的 Disease–Target 原始資料路徑。</a:t>
            </a:r>
          </a:p>
        </p:txBody>
      </p:sp>
      <p:sp>
        <p:nvSpPr>
          <p:cNvPr id="9" name="outcome3-bg">
            <a:extLst>
              <a:ext uri="{FF2B5EF4-FFF2-40B4-BE49-F238E27FC236}">
                <a16:creationId xmlns:a16="http://schemas.microsoft.com/office/drawing/2014/main" id="{0F17A415-F4ED-41DC-B0F8-2FD16C185161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3429000" cy="2476500"/>
          </a:xfrm>
          <a:prstGeom prst="roundRect">
            <a:avLst>
              <a:gd name="adj" fmla="val 3077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outcome3-heading">
            <a:extLst>
              <a:ext uri="{FF2B5EF4-FFF2-40B4-BE49-F238E27FC236}">
                <a16:creationId xmlns:a16="http://schemas.microsoft.com/office/drawing/2014/main" id="{C3D3674B-A3AA-4296-91DB-1EEA67F5BEE2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3009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　四項分工</a:t>
            </a:r>
          </a:p>
        </p:txBody>
      </p:sp>
      <p:sp>
        <p:nvSpPr>
          <p:cNvPr id="11" name="outcome3-detail">
            <a:extLst>
              <a:ext uri="{FF2B5EF4-FFF2-40B4-BE49-F238E27FC236}">
                <a16:creationId xmlns:a16="http://schemas.microsoft.com/office/drawing/2014/main" id="{F0DBF239-167E-4D01-BBA5-22615F07C48B}"/>
              </a:ext>
            </a:extLst>
          </p:cNvPr>
          <p:cNvSpPr>
            <a:spLocks noGrp="1"/>
          </p:cNvSpPr>
          <p:nvPr/>
        </p:nvSpPr>
        <p:spPr>
          <a:xfrm>
            <a:off x="8572500" y="2571750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規劃、查詢、驗證與解讀分開，降低混用風險。</a:t>
            </a:r>
          </a:p>
        </p:txBody>
      </p:sp>
      <p:sp>
        <p:nvSpPr>
          <p:cNvPr id="12" name="outcome-bottom">
            <a:extLst>
              <a:ext uri="{FF2B5EF4-FFF2-40B4-BE49-F238E27FC236}">
                <a16:creationId xmlns:a16="http://schemas.microsoft.com/office/drawing/2014/main" id="{9D35DDDB-77ED-4C1A-B68A-3F0AC66E1ED9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本週重點是建立可驗證的流程基礎，而不是宣稱四個資料來源已全部完成。</a:t>
            </a:r>
          </a:p>
        </p:txBody>
      </p:sp>
    </p:spTree>
    <p:extLst>
      <p:ext uri="{BB962C8B-B14F-4D97-AF65-F5344CB8AC3E}">
        <p14:creationId xmlns:p14="http://schemas.microsoft.com/office/powerpoint/2010/main" val="50081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3">
            <a:extLst>
              <a:ext uri="{FF2B5EF4-FFF2-40B4-BE49-F238E27FC236}">
                <a16:creationId xmlns:a16="http://schemas.microsoft.com/office/drawing/2014/main" id="{9D867FBB-48C4-40F7-B22C-D42563253CE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只輸入疾病名稱，先完成候選 Target 篩選</a:t>
            </a:r>
          </a:p>
        </p:txBody>
      </p:sp>
      <p:sp>
        <p:nvSpPr>
          <p:cNvPr id="2" name="page-3">
            <a:extLst>
              <a:ext uri="{FF2B5EF4-FFF2-40B4-BE49-F238E27FC236}">
                <a16:creationId xmlns:a16="http://schemas.microsoft.com/office/drawing/2014/main" id="{0B988F85-21EE-432E-9954-B089BB04900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rrow-292">
            <a:extLst>
              <a:ext uri="{FF2B5EF4-FFF2-40B4-BE49-F238E27FC236}">
                <a16:creationId xmlns:a16="http://schemas.microsoft.com/office/drawing/2014/main" id="{F247901B-5F97-4DC7-8559-81066B3982A4}"/>
              </a:ext>
            </a:extLst>
          </p:cNvPr>
          <p:cNvSpPr>
            <a:spLocks noGrp="1"/>
          </p:cNvSpPr>
          <p:nvPr/>
        </p:nvSpPr>
        <p:spPr>
          <a:xfrm>
            <a:off x="2781300" y="292417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arrow-607">
            <a:extLst>
              <a:ext uri="{FF2B5EF4-FFF2-40B4-BE49-F238E27FC236}">
                <a16:creationId xmlns:a16="http://schemas.microsoft.com/office/drawing/2014/main" id="{1047B304-2121-41D1-B35E-1C30C45D73E0}"/>
              </a:ext>
            </a:extLst>
          </p:cNvPr>
          <p:cNvSpPr>
            <a:spLocks noGrp="1"/>
          </p:cNvSpPr>
          <p:nvPr/>
        </p:nvSpPr>
        <p:spPr>
          <a:xfrm>
            <a:off x="5781675" y="292417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arrow-922">
            <a:extLst>
              <a:ext uri="{FF2B5EF4-FFF2-40B4-BE49-F238E27FC236}">
                <a16:creationId xmlns:a16="http://schemas.microsoft.com/office/drawing/2014/main" id="{27764AB0-6003-49A4-9CC8-D37669FBB685}"/>
              </a:ext>
            </a:extLst>
          </p:cNvPr>
          <p:cNvSpPr>
            <a:spLocks noGrp="1"/>
          </p:cNvSpPr>
          <p:nvPr/>
        </p:nvSpPr>
        <p:spPr>
          <a:xfrm>
            <a:off x="8782050" y="292417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disease-bg">
            <a:extLst>
              <a:ext uri="{FF2B5EF4-FFF2-40B4-BE49-F238E27FC236}">
                <a16:creationId xmlns:a16="http://schemas.microsoft.com/office/drawing/2014/main" id="{B3C8224E-1FF7-4A7C-9D27-482762E8DAB3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7" name="disease-heading">
            <a:extLst>
              <a:ext uri="{FF2B5EF4-FFF2-40B4-BE49-F238E27FC236}">
                <a16:creationId xmlns:a16="http://schemas.microsoft.com/office/drawing/2014/main" id="{22329E1E-7683-464D-A69A-98D6A97A4DA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輸入疾病</a:t>
            </a:r>
          </a:p>
        </p:txBody>
      </p:sp>
      <p:sp>
        <p:nvSpPr>
          <p:cNvPr id="8" name="disease-detail">
            <a:extLst>
              <a:ext uri="{FF2B5EF4-FFF2-40B4-BE49-F238E27FC236}">
                <a16:creationId xmlns:a16="http://schemas.microsoft.com/office/drawing/2014/main" id="{B66D2BD9-89D4-468C-9E42-9E90DA646FE7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962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pancreatic cancer</a:t>
            </a:r>
          </a:p>
        </p:txBody>
      </p:sp>
      <p:sp>
        <p:nvSpPr>
          <p:cNvPr id="9" name="ontology-bg">
            <a:extLst>
              <a:ext uri="{FF2B5EF4-FFF2-40B4-BE49-F238E27FC236}">
                <a16:creationId xmlns:a16="http://schemas.microsoft.com/office/drawing/2014/main" id="{C374AF51-2048-4D00-BD29-698E2CFFDF77}"/>
              </a:ext>
            </a:extLst>
          </p:cNvPr>
          <p:cNvSpPr>
            <a:spLocks noGrp="1"/>
          </p:cNvSpPr>
          <p:nvPr/>
        </p:nvSpPr>
        <p:spPr>
          <a:xfrm>
            <a:off x="3400425" y="21907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ontology-heading">
            <a:extLst>
              <a:ext uri="{FF2B5EF4-FFF2-40B4-BE49-F238E27FC236}">
                <a16:creationId xmlns:a16="http://schemas.microsoft.com/office/drawing/2014/main" id="{52AE8AF0-F5AF-41B3-8FE5-7C9F797ACD0A}"/>
              </a:ext>
            </a:extLst>
          </p:cNvPr>
          <p:cNvSpPr>
            <a:spLocks noGrp="1"/>
          </p:cNvSpPr>
          <p:nvPr/>
        </p:nvSpPr>
        <p:spPr>
          <a:xfrm>
            <a:off x="3609975" y="238125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解析 ontology</a:t>
            </a:r>
          </a:p>
        </p:txBody>
      </p:sp>
      <p:sp>
        <p:nvSpPr>
          <p:cNvPr id="11" name="ontology-detail">
            <a:extLst>
              <a:ext uri="{FF2B5EF4-FFF2-40B4-BE49-F238E27FC236}">
                <a16:creationId xmlns:a16="http://schemas.microsoft.com/office/drawing/2014/main" id="{25B3F577-CAB3-4C67-AF81-B7D3522E4B22}"/>
              </a:ext>
            </a:extLst>
          </p:cNvPr>
          <p:cNvSpPr>
            <a:spLocks noGrp="1"/>
          </p:cNvSpPr>
          <p:nvPr/>
        </p:nvSpPr>
        <p:spPr>
          <a:xfrm>
            <a:off x="3609975" y="2952750"/>
            <a:ext cx="1962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確認 Disease ID；有歧義時停止並列候選。</a:t>
            </a:r>
          </a:p>
        </p:txBody>
      </p:sp>
      <p:sp>
        <p:nvSpPr>
          <p:cNvPr id="12" name="rank-bg">
            <a:extLst>
              <a:ext uri="{FF2B5EF4-FFF2-40B4-BE49-F238E27FC236}">
                <a16:creationId xmlns:a16="http://schemas.microsoft.com/office/drawing/2014/main" id="{8A1E4F23-AF8F-4779-A16B-41E5239D070E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rank-heading">
            <a:extLst>
              <a:ext uri="{FF2B5EF4-FFF2-40B4-BE49-F238E27FC236}">
                <a16:creationId xmlns:a16="http://schemas.microsoft.com/office/drawing/2014/main" id="{953143FD-6F32-4F5B-A1E0-7FD3272E41B5}"/>
              </a:ext>
            </a:extLst>
          </p:cNvPr>
          <p:cNvSpPr>
            <a:spLocks noGrp="1"/>
          </p:cNvSpPr>
          <p:nvPr/>
        </p:nvSpPr>
        <p:spPr>
          <a:xfrm>
            <a:off x="6610350" y="238125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27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 Targets 排序</a:t>
            </a:r>
          </a:p>
        </p:txBody>
      </p:sp>
      <p:sp>
        <p:nvSpPr>
          <p:cNvPr id="14" name="rank-detail">
            <a:extLst>
              <a:ext uri="{FF2B5EF4-FFF2-40B4-BE49-F238E27FC236}">
                <a16:creationId xmlns:a16="http://schemas.microsoft.com/office/drawing/2014/main" id="{EDCA054E-F3B7-4158-89FC-A19664E4AB0B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1962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目前依 overall association score 初排。</a:t>
            </a:r>
          </a:p>
        </p:txBody>
      </p:sp>
      <p:sp>
        <p:nvSpPr>
          <p:cNvPr id="15" name="top10-bg">
            <a:extLst>
              <a:ext uri="{FF2B5EF4-FFF2-40B4-BE49-F238E27FC236}">
                <a16:creationId xmlns:a16="http://schemas.microsoft.com/office/drawing/2014/main" id="{B640E289-7F81-434E-8218-AF29FEB71A4F}"/>
              </a:ext>
            </a:extLst>
          </p:cNvPr>
          <p:cNvSpPr>
            <a:spLocks noGrp="1"/>
          </p:cNvSpPr>
          <p:nvPr/>
        </p:nvSpPr>
        <p:spPr>
          <a:xfrm>
            <a:off x="9401175" y="2190750"/>
            <a:ext cx="2390775" cy="1619250"/>
          </a:xfrm>
          <a:prstGeom prst="roundRect">
            <a:avLst>
              <a:gd name="adj" fmla="val 4706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6" name="top10-heading">
            <a:extLst>
              <a:ext uri="{FF2B5EF4-FFF2-40B4-BE49-F238E27FC236}">
                <a16:creationId xmlns:a16="http://schemas.microsoft.com/office/drawing/2014/main" id="{A98ECA4C-A3C3-4E37-914C-479CA7ED443F}"/>
              </a:ext>
            </a:extLst>
          </p:cNvPr>
          <p:cNvSpPr>
            <a:spLocks noGrp="1"/>
          </p:cNvSpPr>
          <p:nvPr/>
        </p:nvSpPr>
        <p:spPr>
          <a:xfrm>
            <a:off x="9610725" y="2381250"/>
            <a:ext cx="19716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輸出前 10 個</a:t>
            </a:r>
          </a:p>
        </p:txBody>
      </p:sp>
      <p:sp>
        <p:nvSpPr>
          <p:cNvPr id="17" name="top10-detail">
            <a:extLst>
              <a:ext uri="{FF2B5EF4-FFF2-40B4-BE49-F238E27FC236}">
                <a16:creationId xmlns:a16="http://schemas.microsoft.com/office/drawing/2014/main" id="{8F65CE8C-8448-4A2F-90AB-E2B6344F8C30}"/>
              </a:ext>
            </a:extLst>
          </p:cNvPr>
          <p:cNvSpPr>
            <a:spLocks noGrp="1"/>
          </p:cNvSpPr>
          <p:nvPr/>
        </p:nvSpPr>
        <p:spPr>
          <a:xfrm>
            <a:off x="9610725" y="2952750"/>
            <a:ext cx="19716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Target symbol、Ensembl ID、名稱與分數。</a:t>
            </a:r>
          </a:p>
        </p:txBody>
      </p:sp>
      <p:sp>
        <p:nvSpPr>
          <p:cNvPr id="18" name="scope-note">
            <a:extLst>
              <a:ext uri="{FF2B5EF4-FFF2-40B4-BE49-F238E27FC236}">
                <a16:creationId xmlns:a16="http://schemas.microsoft.com/office/drawing/2014/main" id="{00D77B25-10CC-4398-A1E6-9E64A714BC00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目前完成到「候選篩選」；尚未自動展開 10 個 Targets 的完整底層證據。</a:t>
            </a:r>
          </a:p>
        </p:txBody>
      </p:sp>
      <p:sp>
        <p:nvSpPr>
          <p:cNvPr id="19" name="score-note">
            <a:extLst>
              <a:ext uri="{FF2B5EF4-FFF2-40B4-BE49-F238E27FC236}">
                <a16:creationId xmlns:a16="http://schemas.microsoft.com/office/drawing/2014/main" id="{AC0D2D08-B440-439F-BA5E-4D65F9017627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Open Targets 分數只作初始排序，不代表因果、療效或臨床成功率。</a:t>
            </a:r>
          </a:p>
        </p:txBody>
      </p:sp>
    </p:spTree>
    <p:extLst>
      <p:ext uri="{BB962C8B-B14F-4D97-AF65-F5344CB8AC3E}">
        <p14:creationId xmlns:p14="http://schemas.microsoft.com/office/powerpoint/2010/main" val="1672669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4">
            <a:extLst>
              <a:ext uri="{FF2B5EF4-FFF2-40B4-BE49-F238E27FC236}">
                <a16:creationId xmlns:a16="http://schemas.microsoft.com/office/drawing/2014/main" id="{525BD7B8-73C3-4EF4-B78F-41E86C9A02E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前 10 個 Targets 之後，需由團隊決定查詢策略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66962C87-E407-4919-BBE0-297CF2556F24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decision-intro">
            <a:extLst>
              <a:ext uri="{FF2B5EF4-FFF2-40B4-BE49-F238E27FC236}">
                <a16:creationId xmlns:a16="http://schemas.microsoft.com/office/drawing/2014/main" id="{BB23A700-5404-4979-B7CB-16173F94231D}"/>
              </a:ext>
            </a:extLst>
          </p:cNvPr>
          <p:cNvSpPr>
            <a:spLocks noGrp="1"/>
          </p:cNvSpPr>
          <p:nvPr/>
        </p:nvSpPr>
        <p:spPr>
          <a:xfrm>
            <a:off x="400050" y="10953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兩種做法都保留；差別在人工篩選程度與資料量。</a:t>
            </a:r>
          </a:p>
        </p:txBody>
      </p:sp>
      <p:sp>
        <p:nvSpPr>
          <p:cNvPr id="4" name="optionA-bg">
            <a:extLst>
              <a:ext uri="{FF2B5EF4-FFF2-40B4-BE49-F238E27FC236}">
                <a16:creationId xmlns:a16="http://schemas.microsoft.com/office/drawing/2014/main" id="{D0F0D6AC-217F-403C-8237-C0DF2A51BDF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334000" cy="3333750"/>
          </a:xfrm>
          <a:prstGeom prst="roundRect">
            <a:avLst>
              <a:gd name="adj" fmla="val 2286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5" name="optionA-heading">
            <a:extLst>
              <a:ext uri="{FF2B5EF4-FFF2-40B4-BE49-F238E27FC236}">
                <a16:creationId xmlns:a16="http://schemas.microsoft.com/office/drawing/2014/main" id="{02085091-84C2-47E2-933E-6F5A4AB4E17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方案 A｜人工選擇後再查</a:t>
            </a:r>
          </a:p>
        </p:txBody>
      </p:sp>
      <p:sp>
        <p:nvSpPr>
          <p:cNvPr id="6" name="optionA-detail">
            <a:extLst>
              <a:ext uri="{FF2B5EF4-FFF2-40B4-BE49-F238E27FC236}">
                <a16:creationId xmlns:a16="http://schemas.microsoft.com/office/drawing/2014/main" id="{7EA53F3F-4F65-4410-9374-CA4EBBBF17F7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4914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先看前 10 名，再挑部分 Targets 執行完整 Disease–Target 查詢。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優點：資料量較小、適合目前討論儲存結構。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限制：依賴人工判斷，可能漏掉不明顯候選。</a:t>
            </a:r>
          </a:p>
        </p:txBody>
      </p:sp>
      <p:sp>
        <p:nvSpPr>
          <p:cNvPr id="7" name="optionB-bg">
            <a:extLst>
              <a:ext uri="{FF2B5EF4-FFF2-40B4-BE49-F238E27FC236}">
                <a16:creationId xmlns:a16="http://schemas.microsoft.com/office/drawing/2014/main" id="{1C59C7D4-A011-4D64-906C-72F395341F67}"/>
              </a:ext>
            </a:extLst>
          </p:cNvPr>
          <p:cNvSpPr>
            <a:spLocks noGrp="1"/>
          </p:cNvSpPr>
          <p:nvPr/>
        </p:nvSpPr>
        <p:spPr>
          <a:xfrm>
            <a:off x="6457950" y="1809750"/>
            <a:ext cx="5334000" cy="3333750"/>
          </a:xfrm>
          <a:prstGeom prst="roundRect">
            <a:avLst>
              <a:gd name="adj" fmla="val 228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optionB-heading">
            <a:extLst>
              <a:ext uri="{FF2B5EF4-FFF2-40B4-BE49-F238E27FC236}">
                <a16:creationId xmlns:a16="http://schemas.microsoft.com/office/drawing/2014/main" id="{FC0FAF2B-96E1-4A85-AC13-B841E014AA91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方案 B｜10 個全部展開</a:t>
            </a:r>
          </a:p>
        </p:txBody>
      </p:sp>
      <p:sp>
        <p:nvSpPr>
          <p:cNvPr id="9" name="optionB-detail">
            <a:extLst>
              <a:ext uri="{FF2B5EF4-FFF2-40B4-BE49-F238E27FC236}">
                <a16:creationId xmlns:a16="http://schemas.microsoft.com/office/drawing/2014/main" id="{44A9B341-5480-4332-AF7B-A8731D738974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9149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前 10 個 Targets 全部執行完整 Disease–Target 查詢，再跨 Target 比較。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優點：證據較完整、符合自動探索方向。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限制：資料量、查詢時間與儲存需求較高。</a:t>
            </a:r>
          </a:p>
        </p:txBody>
      </p:sp>
      <p:sp>
        <p:nvSpPr>
          <p:cNvPr id="10" name="decision-question">
            <a:extLst>
              <a:ext uri="{FF2B5EF4-FFF2-40B4-BE49-F238E27FC236}">
                <a16:creationId xmlns:a16="http://schemas.microsoft.com/office/drawing/2014/main" id="{3135ADB3-4D79-411C-A465-6C8EB771F8A2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團隊決策：先人工縮小範圍，或先完整取得 10 組證據？</a:t>
            </a:r>
          </a:p>
        </p:txBody>
      </p:sp>
    </p:spTree>
    <p:extLst>
      <p:ext uri="{BB962C8B-B14F-4D97-AF65-F5344CB8AC3E}">
        <p14:creationId xmlns:p14="http://schemas.microsoft.com/office/powerpoint/2010/main" val="19909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-5">
            <a:extLst>
              <a:ext uri="{FF2B5EF4-FFF2-40B4-BE49-F238E27FC236}">
                <a16:creationId xmlns:a16="http://schemas.microsoft.com/office/drawing/2014/main" id="{DBB92C4A-63A4-4732-B646-E815ACFD03C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目前保留兩條輸出路徑，但資料都必須由 Tools 取得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EC28A605-EC82-478A-A8CF-731D5387F2FA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manual-a">
            <a:extLst>
              <a:ext uri="{FF2B5EF4-FFF2-40B4-BE49-F238E27FC236}">
                <a16:creationId xmlns:a16="http://schemas.microsoft.com/office/drawing/2014/main" id="{F7730F73-58B5-4B13-B3C8-0E48EAF34360}"/>
              </a:ext>
            </a:extLst>
          </p:cNvPr>
          <p:cNvSpPr>
            <a:spLocks noGrp="1"/>
          </p:cNvSpPr>
          <p:nvPr/>
        </p:nvSpPr>
        <p:spPr>
          <a:xfrm>
            <a:off x="1924050" y="2667000"/>
            <a:ext cx="33337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manual-b">
            <a:extLst>
              <a:ext uri="{FF2B5EF4-FFF2-40B4-BE49-F238E27FC236}">
                <a16:creationId xmlns:a16="http://schemas.microsoft.com/office/drawing/2014/main" id="{8C6A0901-AA17-4429-8629-1AD3A072A72F}"/>
              </a:ext>
            </a:extLst>
          </p:cNvPr>
          <p:cNvSpPr>
            <a:spLocks noGrp="1"/>
          </p:cNvSpPr>
          <p:nvPr/>
        </p:nvSpPr>
        <p:spPr>
          <a:xfrm>
            <a:off x="3781425" y="2667000"/>
            <a:ext cx="33337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llm-a">
            <a:extLst>
              <a:ext uri="{FF2B5EF4-FFF2-40B4-BE49-F238E27FC236}">
                <a16:creationId xmlns:a16="http://schemas.microsoft.com/office/drawing/2014/main" id="{0685DC62-AE86-4B09-A920-24ADB2948E2D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3429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llm-b">
            <a:extLst>
              <a:ext uri="{FF2B5EF4-FFF2-40B4-BE49-F238E27FC236}">
                <a16:creationId xmlns:a16="http://schemas.microsoft.com/office/drawing/2014/main" id="{3AEA61AE-1018-43E2-A0AA-1AC5604513A6}"/>
              </a:ext>
            </a:extLst>
          </p:cNvPr>
          <p:cNvSpPr>
            <a:spLocks noGrp="1"/>
          </p:cNvSpPr>
          <p:nvPr/>
        </p:nvSpPr>
        <p:spPr>
          <a:xfrm>
            <a:off x="9848850" y="2667000"/>
            <a:ext cx="3429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lane-divider">
            <a:extLst>
              <a:ext uri="{FF2B5EF4-FFF2-40B4-BE49-F238E27FC236}">
                <a16:creationId xmlns:a16="http://schemas.microsoft.com/office/drawing/2014/main" id="{B12276D8-1462-48C2-A36C-63ED30455CC9}"/>
              </a:ext>
            </a:extLst>
          </p:cNvPr>
          <p:cNvSpPr>
            <a:spLocks noGrp="1"/>
          </p:cNvSpPr>
          <p:nvPr/>
        </p:nvSpPr>
        <p:spPr>
          <a:xfrm>
            <a:off x="6000750" y="1381125"/>
            <a:ext cx="19050" cy="3714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manual-title">
            <a:extLst>
              <a:ext uri="{FF2B5EF4-FFF2-40B4-BE49-F238E27FC236}">
                <a16:creationId xmlns:a16="http://schemas.microsoft.com/office/drawing/2014/main" id="{A13C9D37-1684-4B04-A3A8-FA5F3A52614B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A｜人工操作 Tools</a:t>
            </a:r>
          </a:p>
        </p:txBody>
      </p:sp>
      <p:sp>
        <p:nvSpPr>
          <p:cNvPr id="9" name="manual-status">
            <a:extLst>
              <a:ext uri="{FF2B5EF4-FFF2-40B4-BE49-F238E27FC236}">
                <a16:creationId xmlns:a16="http://schemas.microsoft.com/office/drawing/2014/main" id="{6AACAEA7-7B26-478A-919C-B4C4DFB48EF2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已可執行</a:t>
            </a:r>
          </a:p>
        </p:txBody>
      </p:sp>
      <p:sp>
        <p:nvSpPr>
          <p:cNvPr id="10" name="manual-input-bg">
            <a:extLst>
              <a:ext uri="{FF2B5EF4-FFF2-40B4-BE49-F238E27FC236}">
                <a16:creationId xmlns:a16="http://schemas.microsoft.com/office/drawing/2014/main" id="{2DFD5BEE-7DDF-49A5-A782-46DDD28936E8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1524000" cy="1476375"/>
          </a:xfrm>
          <a:prstGeom prst="roundRect">
            <a:avLst>
              <a:gd name="adj" fmla="val 516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1" name="manual-input-heading">
            <a:extLst>
              <a:ext uri="{FF2B5EF4-FFF2-40B4-BE49-F238E27FC236}">
                <a16:creationId xmlns:a16="http://schemas.microsoft.com/office/drawing/2014/main" id="{FD91860F-79B6-450B-AD9B-FDA1EE5BA215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10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人工指定</a:t>
            </a:r>
          </a:p>
        </p:txBody>
      </p:sp>
      <p:sp>
        <p:nvSpPr>
          <p:cNvPr id="12" name="manual-input-detail">
            <a:extLst>
              <a:ext uri="{FF2B5EF4-FFF2-40B4-BE49-F238E27FC236}">
                <a16:creationId xmlns:a16="http://schemas.microsoft.com/office/drawing/2014/main" id="{6FE90AEE-6B06-40E5-BE12-4CA72B71A7EC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1049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80"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Disease＋Target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pancreatic cancer–KRAS</a:t>
            </a:r>
          </a:p>
        </p:txBody>
      </p:sp>
      <p:sp>
        <p:nvSpPr>
          <p:cNvPr id="13" name="manual-tools-bg">
            <a:extLst>
              <a:ext uri="{FF2B5EF4-FFF2-40B4-BE49-F238E27FC236}">
                <a16:creationId xmlns:a16="http://schemas.microsoft.com/office/drawing/2014/main" id="{40BD96F8-09FB-415A-A261-F9982B887318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1524000" cy="1476375"/>
          </a:xfrm>
          <a:prstGeom prst="roundRect">
            <a:avLst>
              <a:gd name="adj" fmla="val 5161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manual-tools-heading">
            <a:extLst>
              <a:ext uri="{FF2B5EF4-FFF2-40B4-BE49-F238E27FC236}">
                <a16:creationId xmlns:a16="http://schemas.microsoft.com/office/drawing/2014/main" id="{BA7C51C3-1704-4087-B5A6-1CBD3613DAAD}"/>
              </a:ext>
            </a:extLst>
          </p:cNvPr>
          <p:cNvSpPr>
            <a:spLocks noGrp="1"/>
          </p:cNvSpPr>
          <p:nvPr/>
        </p:nvSpPr>
        <p:spPr>
          <a:xfrm>
            <a:off x="2466975" y="2428875"/>
            <a:ext cx="110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Tools</a:t>
            </a:r>
          </a:p>
        </p:txBody>
      </p:sp>
      <p:sp>
        <p:nvSpPr>
          <p:cNvPr id="15" name="manual-tools-detail">
            <a:extLst>
              <a:ext uri="{FF2B5EF4-FFF2-40B4-BE49-F238E27FC236}">
                <a16:creationId xmlns:a16="http://schemas.microsoft.com/office/drawing/2014/main" id="{4467FB6B-E36B-45AB-AA74-D647235FD29D}"/>
              </a:ext>
            </a:extLst>
          </p:cNvPr>
          <p:cNvSpPr>
            <a:spLocks noGrp="1"/>
          </p:cNvSpPr>
          <p:nvPr/>
        </p:nvSpPr>
        <p:spPr>
          <a:xfrm>
            <a:off x="2466975" y="3000375"/>
            <a:ext cx="11049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直接查詢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Open Targets</a:t>
            </a:r>
          </a:p>
        </p:txBody>
      </p:sp>
      <p:sp>
        <p:nvSpPr>
          <p:cNvPr id="16" name="manual-json-bg">
            <a:extLst>
              <a:ext uri="{FF2B5EF4-FFF2-40B4-BE49-F238E27FC236}">
                <a16:creationId xmlns:a16="http://schemas.microsoft.com/office/drawing/2014/main" id="{452E3AE4-D2D3-4AF0-BBD5-C28D83461B6A}"/>
              </a:ext>
            </a:extLst>
          </p:cNvPr>
          <p:cNvSpPr>
            <a:spLocks noGrp="1"/>
          </p:cNvSpPr>
          <p:nvPr/>
        </p:nvSpPr>
        <p:spPr>
          <a:xfrm>
            <a:off x="4114800" y="2238375"/>
            <a:ext cx="1647825" cy="1476375"/>
          </a:xfrm>
          <a:prstGeom prst="roundRect">
            <a:avLst>
              <a:gd name="adj" fmla="val 516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7" name="manual-json-heading">
            <a:extLst>
              <a:ext uri="{FF2B5EF4-FFF2-40B4-BE49-F238E27FC236}">
                <a16:creationId xmlns:a16="http://schemas.microsoft.com/office/drawing/2014/main" id="{EB5E79D5-DF06-4A05-8230-ACD6BE1B57D9}"/>
              </a:ext>
            </a:extLst>
          </p:cNvPr>
          <p:cNvSpPr>
            <a:spLocks noGrp="1"/>
          </p:cNvSpPr>
          <p:nvPr/>
        </p:nvSpPr>
        <p:spPr>
          <a:xfrm>
            <a:off x="4324350" y="2428875"/>
            <a:ext cx="12287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JSON</a:t>
            </a:r>
          </a:p>
        </p:txBody>
      </p:sp>
      <p:sp>
        <p:nvSpPr>
          <p:cNvPr id="18" name="manual-json-detail">
            <a:extLst>
              <a:ext uri="{FF2B5EF4-FFF2-40B4-BE49-F238E27FC236}">
                <a16:creationId xmlns:a16="http://schemas.microsoft.com/office/drawing/2014/main" id="{4A897E6A-9EBD-4C66-928A-D78BC1730BC4}"/>
              </a:ext>
            </a:extLst>
          </p:cNvPr>
          <p:cNvSpPr>
            <a:spLocks noGrp="1"/>
          </p:cNvSpPr>
          <p:nvPr/>
        </p:nvSpPr>
        <p:spPr>
          <a:xfrm>
            <a:off x="4324350" y="3000375"/>
            <a:ext cx="12287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原始資料＋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驗證資訊</a:t>
            </a:r>
          </a:p>
        </p:txBody>
      </p:sp>
      <p:sp>
        <p:nvSpPr>
          <p:cNvPr id="19" name="manual-use">
            <a:extLst>
              <a:ext uri="{FF2B5EF4-FFF2-40B4-BE49-F238E27FC236}">
                <a16:creationId xmlns:a16="http://schemas.microsoft.com/office/drawing/2014/main" id="{A4AFCC06-E457-485E-833E-C823DCD6EB8F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用途：專家檢查、資料結構討論、系統除錯與重現。</a:t>
            </a:r>
          </a:p>
        </p:txBody>
      </p:sp>
      <p:sp>
        <p:nvSpPr>
          <p:cNvPr id="20" name="llm-title">
            <a:extLst>
              <a:ext uri="{FF2B5EF4-FFF2-40B4-BE49-F238E27FC236}">
                <a16:creationId xmlns:a16="http://schemas.microsoft.com/office/drawing/2014/main" id="{61EE9CC9-F687-4FA1-B107-21363EBC4F71}"/>
              </a:ext>
            </a:extLst>
          </p:cNvPr>
          <p:cNvSpPr>
            <a:spLocks noGrp="1"/>
          </p:cNvSpPr>
          <p:nvPr/>
        </p:nvSpPr>
        <p:spPr>
          <a:xfrm>
            <a:off x="6457950" y="133350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B｜LLM 規劃後呼叫 Tools</a:t>
            </a:r>
          </a:p>
        </p:txBody>
      </p:sp>
      <p:sp>
        <p:nvSpPr>
          <p:cNvPr id="21" name="llm-status">
            <a:extLst>
              <a:ext uri="{FF2B5EF4-FFF2-40B4-BE49-F238E27FC236}">
                <a16:creationId xmlns:a16="http://schemas.microsoft.com/office/drawing/2014/main" id="{38E63431-C7C8-4C05-82E8-51C2ED28FDFB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規劃框架已完成；Tools 執行仍受 Collection Policy 限制</a:t>
            </a:r>
          </a:p>
        </p:txBody>
      </p:sp>
      <p:sp>
        <p:nvSpPr>
          <p:cNvPr id="22" name="llm-input-bg">
            <a:extLst>
              <a:ext uri="{FF2B5EF4-FFF2-40B4-BE49-F238E27FC236}">
                <a16:creationId xmlns:a16="http://schemas.microsoft.com/office/drawing/2014/main" id="{FE01273B-976C-4961-864C-9D22360C2C7D}"/>
              </a:ext>
            </a:extLst>
          </p:cNvPr>
          <p:cNvSpPr>
            <a:spLocks noGrp="1"/>
          </p:cNvSpPr>
          <p:nvPr/>
        </p:nvSpPr>
        <p:spPr>
          <a:xfrm>
            <a:off x="6457950" y="2238375"/>
            <a:ext cx="1638300" cy="1476375"/>
          </a:xfrm>
          <a:prstGeom prst="roundRect">
            <a:avLst>
              <a:gd name="adj" fmla="val 516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3" name="llm-input-heading">
            <a:extLst>
              <a:ext uri="{FF2B5EF4-FFF2-40B4-BE49-F238E27FC236}">
                <a16:creationId xmlns:a16="http://schemas.microsoft.com/office/drawing/2014/main" id="{062B462E-B58C-4DB5-A97A-259C63258EB0}"/>
              </a:ext>
            </a:extLst>
          </p:cNvPr>
          <p:cNvSpPr>
            <a:spLocks noGrp="1"/>
          </p:cNvSpPr>
          <p:nvPr/>
        </p:nvSpPr>
        <p:spPr>
          <a:xfrm>
            <a:off x="6667500" y="2428875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自然語言</a:t>
            </a:r>
          </a:p>
        </p:txBody>
      </p:sp>
      <p:sp>
        <p:nvSpPr>
          <p:cNvPr id="24" name="llm-input-detail">
            <a:extLst>
              <a:ext uri="{FF2B5EF4-FFF2-40B4-BE49-F238E27FC236}">
                <a16:creationId xmlns:a16="http://schemas.microsoft.com/office/drawing/2014/main" id="{5CA31C7D-C853-48A9-B49C-9A50F712EC43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1219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研究問題</a:t>
            </a:r>
          </a:p>
        </p:txBody>
      </p:sp>
      <p:sp>
        <p:nvSpPr>
          <p:cNvPr id="25" name="llm-plan-bg">
            <a:extLst>
              <a:ext uri="{FF2B5EF4-FFF2-40B4-BE49-F238E27FC236}">
                <a16:creationId xmlns:a16="http://schemas.microsoft.com/office/drawing/2014/main" id="{F70757A0-C612-4D18-A284-4ECD6A5B7C33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1409700" cy="1476375"/>
          </a:xfrm>
          <a:prstGeom prst="roundRect">
            <a:avLst>
              <a:gd name="adj" fmla="val 5405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6" name="llm-plan-heading">
            <a:extLst>
              <a:ext uri="{FF2B5EF4-FFF2-40B4-BE49-F238E27FC236}">
                <a16:creationId xmlns:a16="http://schemas.microsoft.com/office/drawing/2014/main" id="{314DC965-208D-498E-A1BD-C6AE0B566266}"/>
              </a:ext>
            </a:extLst>
          </p:cNvPr>
          <p:cNvSpPr>
            <a:spLocks noGrp="1"/>
          </p:cNvSpPr>
          <p:nvPr/>
        </p:nvSpPr>
        <p:spPr>
          <a:xfrm>
            <a:off x="8648700" y="2428875"/>
            <a:ext cx="990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27" name="llm-plan-detail">
            <a:extLst>
              <a:ext uri="{FF2B5EF4-FFF2-40B4-BE49-F238E27FC236}">
                <a16:creationId xmlns:a16="http://schemas.microsoft.com/office/drawing/2014/main" id="{5EC4936A-C4A5-424F-B449-3C3F0D33351B}"/>
              </a:ext>
            </a:extLst>
          </p:cNvPr>
          <p:cNvSpPr>
            <a:spLocks noGrp="1"/>
          </p:cNvSpPr>
          <p:nvPr/>
        </p:nvSpPr>
        <p:spPr>
          <a:xfrm>
            <a:off x="8648700" y="300037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49"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產生並修正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Research Plan</a:t>
            </a:r>
          </a:p>
        </p:txBody>
      </p:sp>
      <p:sp>
        <p:nvSpPr>
          <p:cNvPr id="28" name="llm-tools-bg">
            <a:extLst>
              <a:ext uri="{FF2B5EF4-FFF2-40B4-BE49-F238E27FC236}">
                <a16:creationId xmlns:a16="http://schemas.microsoft.com/office/drawing/2014/main" id="{854D2E0A-7731-468A-A334-0DA5AE995F05}"/>
              </a:ext>
            </a:extLst>
          </p:cNvPr>
          <p:cNvSpPr>
            <a:spLocks noGrp="1"/>
          </p:cNvSpPr>
          <p:nvPr/>
        </p:nvSpPr>
        <p:spPr>
          <a:xfrm>
            <a:off x="10191750" y="2238375"/>
            <a:ext cx="1600200" cy="1476375"/>
          </a:xfrm>
          <a:prstGeom prst="roundRect">
            <a:avLst>
              <a:gd name="adj" fmla="val 516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9" name="llm-tools-heading">
            <a:extLst>
              <a:ext uri="{FF2B5EF4-FFF2-40B4-BE49-F238E27FC236}">
                <a16:creationId xmlns:a16="http://schemas.microsoft.com/office/drawing/2014/main" id="{26F104BD-D213-4C02-BAE2-527295176B5D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81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Validated Tools</a:t>
            </a:r>
          </a:p>
        </p:txBody>
      </p:sp>
      <p:sp>
        <p:nvSpPr>
          <p:cNvPr id="30" name="llm-tools-detail">
            <a:extLst>
              <a:ext uri="{FF2B5EF4-FFF2-40B4-BE49-F238E27FC236}">
                <a16:creationId xmlns:a16="http://schemas.microsoft.com/office/drawing/2014/main" id="{95C61168-390A-497A-9134-709D0DE38EEA}"/>
              </a:ext>
            </a:extLst>
          </p:cNvPr>
          <p:cNvSpPr>
            <a:spLocks noGrp="1"/>
          </p:cNvSpPr>
          <p:nvPr/>
        </p:nvSpPr>
        <p:spPr>
          <a:xfrm>
            <a:off x="10401300" y="3000375"/>
            <a:ext cx="11811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驗證後才查詢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並輸出 JSON</a:t>
            </a:r>
          </a:p>
        </p:txBody>
      </p:sp>
      <p:sp>
        <p:nvSpPr>
          <p:cNvPr id="31" name="llm-use">
            <a:extLst>
              <a:ext uri="{FF2B5EF4-FFF2-40B4-BE49-F238E27FC236}">
                <a16:creationId xmlns:a16="http://schemas.microsoft.com/office/drawing/2014/main" id="{CB54B5EE-C0E9-4FB1-AE65-0453AB6D1969}"/>
              </a:ext>
            </a:extLst>
          </p:cNvPr>
          <p:cNvSpPr>
            <a:spLocks noGrp="1"/>
          </p:cNvSpPr>
          <p:nvPr/>
        </p:nvSpPr>
        <p:spPr>
          <a:xfrm>
            <a:off x="6457950" y="409575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用途：未來自動規劃多來源查詢；LLM 不直接生成資料庫結果。</a:t>
            </a:r>
          </a:p>
        </p:txBody>
      </p:sp>
      <p:sp>
        <p:nvSpPr>
          <p:cNvPr id="32" name="shared-rule">
            <a:extLst>
              <a:ext uri="{FF2B5EF4-FFF2-40B4-BE49-F238E27FC236}">
                <a16:creationId xmlns:a16="http://schemas.microsoft.com/office/drawing/2014/main" id="{178A3BA9-8A7E-49E0-B369-566B7A9A1843}"/>
              </a:ext>
            </a:extLst>
          </p:cNvPr>
          <p:cNvSpPr>
            <a:spLocks noGrp="1"/>
          </p:cNvSpPr>
          <p:nvPr/>
        </p:nvSpPr>
        <p:spPr>
          <a:xfrm>
            <a:off x="400050" y="542925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共同原則：LLM 可以規劃與解讀，但 ID、API 查詢、原始資料與格式驗證必須交給程式。</a:t>
            </a:r>
          </a:p>
        </p:txBody>
      </p:sp>
    </p:spTree>
    <p:extLst>
      <p:ext uri="{BB962C8B-B14F-4D97-AF65-F5344CB8AC3E}">
        <p14:creationId xmlns:p14="http://schemas.microsoft.com/office/powerpoint/2010/main" val="175533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6">
            <a:extLst>
              <a:ext uri="{FF2B5EF4-FFF2-40B4-BE49-F238E27FC236}">
                <a16:creationId xmlns:a16="http://schemas.microsoft.com/office/drawing/2014/main" id="{3DF79DBA-B667-4D04-AC9A-C26FD4D62D0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Disease–Target 查詢能深入證據，但目前仍有範圍限制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164FFC59-BEA4-4A84-AB42-2CE9035FAE2E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facts-bg">
            <a:extLst>
              <a:ext uri="{FF2B5EF4-FFF2-40B4-BE49-F238E27FC236}">
                <a16:creationId xmlns:a16="http://schemas.microsoft.com/office/drawing/2014/main" id="{A9794CAF-6F94-4092-9963-0542419CAA6E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238750" cy="3524250"/>
          </a:xfrm>
          <a:prstGeom prst="roundRect">
            <a:avLst>
              <a:gd name="adj" fmla="val 2162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facts-heading">
            <a:extLst>
              <a:ext uri="{FF2B5EF4-FFF2-40B4-BE49-F238E27FC236}">
                <a16:creationId xmlns:a16="http://schemas.microsoft.com/office/drawing/2014/main" id="{BBBE82BD-4F2E-4754-9ECC-B65F1A7F1462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4819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目前可輸出</a:t>
            </a:r>
          </a:p>
        </p:txBody>
      </p:sp>
      <p:sp>
        <p:nvSpPr>
          <p:cNvPr id="5" name="facts-detail">
            <a:extLst>
              <a:ext uri="{FF2B5EF4-FFF2-40B4-BE49-F238E27FC236}">
                <a16:creationId xmlns:a16="http://schemas.microsoft.com/office/drawing/2014/main" id="{18EA6AEE-8557-431A-9F6B-DDA2F422249A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819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疾病與 Target ID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Open Targets overall／datasource scores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clinical_precedence evidence records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總筆數、取得筆數與截斷狀態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原始欄位與專家檢查視圖</a:t>
            </a:r>
          </a:p>
        </p:txBody>
      </p:sp>
      <p:sp>
        <p:nvSpPr>
          <p:cNvPr id="6" name="limits-bg">
            <a:extLst>
              <a:ext uri="{FF2B5EF4-FFF2-40B4-BE49-F238E27FC236}">
                <a16:creationId xmlns:a16="http://schemas.microsoft.com/office/drawing/2014/main" id="{8772A1E3-3C0B-442C-82AD-2501488EB60C}"/>
              </a:ext>
            </a:extLst>
          </p:cNvPr>
          <p:cNvSpPr>
            <a:spLocks noGrp="1"/>
          </p:cNvSpPr>
          <p:nvPr/>
        </p:nvSpPr>
        <p:spPr>
          <a:xfrm>
            <a:off x="6477000" y="1476375"/>
            <a:ext cx="5314950" cy="3524250"/>
          </a:xfrm>
          <a:prstGeom prst="roundRect">
            <a:avLst>
              <a:gd name="adj" fmla="val 216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limits-heading">
            <a:extLst>
              <a:ext uri="{FF2B5EF4-FFF2-40B4-BE49-F238E27FC236}">
                <a16:creationId xmlns:a16="http://schemas.microsoft.com/office/drawing/2014/main" id="{ED2346C7-AE68-444C-967F-69D5C3DA264F}"/>
              </a:ext>
            </a:extLst>
          </p:cNvPr>
          <p:cNvSpPr>
            <a:spLocks noGrp="1"/>
          </p:cNvSpPr>
          <p:nvPr/>
        </p:nvSpPr>
        <p:spPr>
          <a:xfrm>
            <a:off x="6686550" y="1666875"/>
            <a:ext cx="4895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目前限制</a:t>
            </a:r>
          </a:p>
        </p:txBody>
      </p:sp>
      <p:sp>
        <p:nvSpPr>
          <p:cNvPr id="8" name="limits-detail">
            <a:extLst>
              <a:ext uri="{FF2B5EF4-FFF2-40B4-BE49-F238E27FC236}">
                <a16:creationId xmlns:a16="http://schemas.microsoft.com/office/drawing/2014/main" id="{30AFA5F9-5F42-4640-A7B6-320601FDC46B}"/>
              </a:ext>
            </a:extLst>
          </p:cNvPr>
          <p:cNvSpPr>
            <a:spLocks noGrp="1"/>
          </p:cNvSpPr>
          <p:nvPr/>
        </p:nvSpPr>
        <p:spPr>
          <a:xfrm>
            <a:off x="6686550" y="2238375"/>
            <a:ext cx="48958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詳細底層證據主要完成 clinical_precedence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其他 Open Targets datasource 尚未完整展開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Europe PMC、ClinicalTrials.gov、ChEMBL 正式工具尚未完成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正式儲存結構等待專家意見</a:t>
            </a:r>
          </a:p>
        </p:txBody>
      </p:sp>
      <p:sp>
        <p:nvSpPr>
          <p:cNvPr id="9" name="not-overclaim">
            <a:extLst>
              <a:ext uri="{FF2B5EF4-FFF2-40B4-BE49-F238E27FC236}">
                <a16:creationId xmlns:a16="http://schemas.microsoft.com/office/drawing/2014/main" id="{0607BB89-46D6-4450-99A1-A5D30A532B38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因此目前不能宣稱四個資料來源已完成自動證據收集。</a:t>
            </a:r>
          </a:p>
        </p:txBody>
      </p:sp>
    </p:spTree>
    <p:extLst>
      <p:ext uri="{BB962C8B-B14F-4D97-AF65-F5344CB8AC3E}">
        <p14:creationId xmlns:p14="http://schemas.microsoft.com/office/powerpoint/2010/main" val="13849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7">
            <a:extLst>
              <a:ext uri="{FF2B5EF4-FFF2-40B4-BE49-F238E27FC236}">
                <a16:creationId xmlns:a16="http://schemas.microsoft.com/office/drawing/2014/main" id="{8AD028AE-4835-49B2-A811-6E7CC4E510F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1 拆成四個角色，讓每一步都能獨立驗證</a:t>
            </a:r>
          </a:p>
        </p:txBody>
      </p:sp>
      <p:sp>
        <p:nvSpPr>
          <p:cNvPr id="2" name="page-7">
            <a:extLst>
              <a:ext uri="{FF2B5EF4-FFF2-40B4-BE49-F238E27FC236}">
                <a16:creationId xmlns:a16="http://schemas.microsoft.com/office/drawing/2014/main" id="{2BD587C7-0E74-4FFF-8532-58D12C080EA3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role-arrow-292">
            <a:extLst>
              <a:ext uri="{FF2B5EF4-FFF2-40B4-BE49-F238E27FC236}">
                <a16:creationId xmlns:a16="http://schemas.microsoft.com/office/drawing/2014/main" id="{3B323556-ADB7-4FD2-A086-A4A356362AD5}"/>
              </a:ext>
            </a:extLst>
          </p:cNvPr>
          <p:cNvSpPr>
            <a:spLocks noGrp="1"/>
          </p:cNvSpPr>
          <p:nvPr/>
        </p:nvSpPr>
        <p:spPr>
          <a:xfrm>
            <a:off x="2781300" y="309562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role-arrow-607">
            <a:extLst>
              <a:ext uri="{FF2B5EF4-FFF2-40B4-BE49-F238E27FC236}">
                <a16:creationId xmlns:a16="http://schemas.microsoft.com/office/drawing/2014/main" id="{28776FDA-7F4A-4E21-80B6-BEFE6B4328FC}"/>
              </a:ext>
            </a:extLst>
          </p:cNvPr>
          <p:cNvSpPr>
            <a:spLocks noGrp="1"/>
          </p:cNvSpPr>
          <p:nvPr/>
        </p:nvSpPr>
        <p:spPr>
          <a:xfrm>
            <a:off x="5781675" y="309562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role-arrow-922">
            <a:extLst>
              <a:ext uri="{FF2B5EF4-FFF2-40B4-BE49-F238E27FC236}">
                <a16:creationId xmlns:a16="http://schemas.microsoft.com/office/drawing/2014/main" id="{9AC0E35A-8E38-41F2-B0A7-ADC446429C70}"/>
              </a:ext>
            </a:extLst>
          </p:cNvPr>
          <p:cNvSpPr>
            <a:spLocks noGrp="1"/>
          </p:cNvSpPr>
          <p:nvPr/>
        </p:nvSpPr>
        <p:spPr>
          <a:xfrm>
            <a:off x="8782050" y="3095625"/>
            <a:ext cx="619125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planner-bg">
            <a:extLst>
              <a:ext uri="{FF2B5EF4-FFF2-40B4-BE49-F238E27FC236}">
                <a16:creationId xmlns:a16="http://schemas.microsoft.com/office/drawing/2014/main" id="{234BD270-2D4F-4C8C-8BF0-1BCF9E0B0725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7" name="planner-heading">
            <a:extLst>
              <a:ext uri="{FF2B5EF4-FFF2-40B4-BE49-F238E27FC236}">
                <a16:creationId xmlns:a16="http://schemas.microsoft.com/office/drawing/2014/main" id="{C833DB4D-C720-485C-B6AD-D825FBDC8CDD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Planner</a:t>
            </a:r>
          </a:p>
        </p:txBody>
      </p:sp>
      <p:sp>
        <p:nvSpPr>
          <p:cNvPr id="8" name="planner-detail">
            <a:extLst>
              <a:ext uri="{FF2B5EF4-FFF2-40B4-BE49-F238E27FC236}">
                <a16:creationId xmlns:a16="http://schemas.microsoft.com/office/drawing/2014/main" id="{5B0C991A-3E0E-4836-AD43-B46CD675D66A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962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Qwen／Ollama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規劃怎麼查</a:t>
            </a:r>
          </a:p>
        </p:txBody>
      </p:sp>
      <p:sp>
        <p:nvSpPr>
          <p:cNvPr id="9" name="runner-bg">
            <a:extLst>
              <a:ext uri="{FF2B5EF4-FFF2-40B4-BE49-F238E27FC236}">
                <a16:creationId xmlns:a16="http://schemas.microsoft.com/office/drawing/2014/main" id="{3B338F11-70A4-4FC5-866A-D9CC6E639668}"/>
              </a:ext>
            </a:extLst>
          </p:cNvPr>
          <p:cNvSpPr>
            <a:spLocks noGrp="1"/>
          </p:cNvSpPr>
          <p:nvPr/>
        </p:nvSpPr>
        <p:spPr>
          <a:xfrm>
            <a:off x="3400425" y="2238375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runner-heading">
            <a:extLst>
              <a:ext uri="{FF2B5EF4-FFF2-40B4-BE49-F238E27FC236}">
                <a16:creationId xmlns:a16="http://schemas.microsoft.com/office/drawing/2014/main" id="{0DAB5F39-92CA-4664-A86B-7B65478DBE28}"/>
              </a:ext>
            </a:extLst>
          </p:cNvPr>
          <p:cNvSpPr>
            <a:spLocks noGrp="1"/>
          </p:cNvSpPr>
          <p:nvPr/>
        </p:nvSpPr>
        <p:spPr>
          <a:xfrm>
            <a:off x="3609975" y="242887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Runner</a:t>
            </a:r>
          </a:p>
        </p:txBody>
      </p:sp>
      <p:sp>
        <p:nvSpPr>
          <p:cNvPr id="11" name="runner-detail">
            <a:extLst>
              <a:ext uri="{FF2B5EF4-FFF2-40B4-BE49-F238E27FC236}">
                <a16:creationId xmlns:a16="http://schemas.microsoft.com/office/drawing/2014/main" id="{BD8A2C80-745D-43F4-8187-C60E40048025}"/>
              </a:ext>
            </a:extLst>
          </p:cNvPr>
          <p:cNvSpPr>
            <a:spLocks noGrp="1"/>
          </p:cNvSpPr>
          <p:nvPr/>
        </p:nvSpPr>
        <p:spPr>
          <a:xfrm>
            <a:off x="3609975" y="3000375"/>
            <a:ext cx="1962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Python tools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實際呼叫資料庫</a:t>
            </a:r>
          </a:p>
        </p:txBody>
      </p:sp>
      <p:sp>
        <p:nvSpPr>
          <p:cNvPr id="12" name="validator-bg">
            <a:extLst>
              <a:ext uri="{FF2B5EF4-FFF2-40B4-BE49-F238E27FC236}">
                <a16:creationId xmlns:a16="http://schemas.microsoft.com/office/drawing/2014/main" id="{335CB41C-2025-4658-B9DE-438E05C74178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2381250" cy="1809750"/>
          </a:xfrm>
          <a:prstGeom prst="roundRect">
            <a:avLst>
              <a:gd name="adj" fmla="val 4211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validator-heading">
            <a:extLst>
              <a:ext uri="{FF2B5EF4-FFF2-40B4-BE49-F238E27FC236}">
                <a16:creationId xmlns:a16="http://schemas.microsoft.com/office/drawing/2014/main" id="{FAE1AAC4-31FD-430B-B8FF-54D6EBB8B36B}"/>
              </a:ext>
            </a:extLst>
          </p:cNvPr>
          <p:cNvSpPr>
            <a:spLocks noGrp="1"/>
          </p:cNvSpPr>
          <p:nvPr/>
        </p:nvSpPr>
        <p:spPr>
          <a:xfrm>
            <a:off x="6610350" y="242887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Validator</a:t>
            </a:r>
          </a:p>
        </p:txBody>
      </p:sp>
      <p:sp>
        <p:nvSpPr>
          <p:cNvPr id="14" name="validator-detail">
            <a:extLst>
              <a:ext uri="{FF2B5EF4-FFF2-40B4-BE49-F238E27FC236}">
                <a16:creationId xmlns:a16="http://schemas.microsoft.com/office/drawing/2014/main" id="{BE884BD0-85D9-42BC-8247-53F533DEE698}"/>
              </a:ext>
            </a:extLst>
          </p:cNvPr>
          <p:cNvSpPr>
            <a:spLocks noGrp="1"/>
          </p:cNvSpPr>
          <p:nvPr/>
        </p:nvSpPr>
        <p:spPr>
          <a:xfrm>
            <a:off x="6610350" y="3000375"/>
            <a:ext cx="1962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Python validation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檢查 ID 與資料完整性</a:t>
            </a:r>
          </a:p>
        </p:txBody>
      </p:sp>
      <p:sp>
        <p:nvSpPr>
          <p:cNvPr id="15" name="synth-bg">
            <a:extLst>
              <a:ext uri="{FF2B5EF4-FFF2-40B4-BE49-F238E27FC236}">
                <a16:creationId xmlns:a16="http://schemas.microsoft.com/office/drawing/2014/main" id="{9817C796-AF48-4555-980E-489F1610084B}"/>
              </a:ext>
            </a:extLst>
          </p:cNvPr>
          <p:cNvSpPr>
            <a:spLocks noGrp="1"/>
          </p:cNvSpPr>
          <p:nvPr/>
        </p:nvSpPr>
        <p:spPr>
          <a:xfrm>
            <a:off x="9401175" y="2238375"/>
            <a:ext cx="2390775" cy="1809750"/>
          </a:xfrm>
          <a:prstGeom prst="roundRect">
            <a:avLst>
              <a:gd name="adj" fmla="val 421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6" name="synth-heading">
            <a:extLst>
              <a:ext uri="{FF2B5EF4-FFF2-40B4-BE49-F238E27FC236}">
                <a16:creationId xmlns:a16="http://schemas.microsoft.com/office/drawing/2014/main" id="{5DBC0B73-8266-491F-971D-40497C42478F}"/>
              </a:ext>
            </a:extLst>
          </p:cNvPr>
          <p:cNvSpPr>
            <a:spLocks noGrp="1"/>
          </p:cNvSpPr>
          <p:nvPr/>
        </p:nvSpPr>
        <p:spPr>
          <a:xfrm>
            <a:off x="9610725" y="2428875"/>
            <a:ext cx="19716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Synthesizer</a:t>
            </a:r>
          </a:p>
        </p:txBody>
      </p:sp>
      <p:sp>
        <p:nvSpPr>
          <p:cNvPr id="17" name="synth-detail">
            <a:extLst>
              <a:ext uri="{FF2B5EF4-FFF2-40B4-BE49-F238E27FC236}">
                <a16:creationId xmlns:a16="http://schemas.microsoft.com/office/drawing/2014/main" id="{07529538-D33D-430B-8427-E51FBB65FC79}"/>
              </a:ext>
            </a:extLst>
          </p:cNvPr>
          <p:cNvSpPr>
            <a:spLocks noGrp="1"/>
          </p:cNvSpPr>
          <p:nvPr/>
        </p:nvSpPr>
        <p:spPr>
          <a:xfrm>
            <a:off x="9610725" y="3000375"/>
            <a:ext cx="19716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Qwen／Ollama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整理與解讀證據</a:t>
            </a:r>
          </a:p>
        </p:txBody>
      </p:sp>
      <p:sp>
        <p:nvSpPr>
          <p:cNvPr id="18" name="roles-claim">
            <a:extLst>
              <a:ext uri="{FF2B5EF4-FFF2-40B4-BE49-F238E27FC236}">
                <a16:creationId xmlns:a16="http://schemas.microsoft.com/office/drawing/2014/main" id="{CDF73622-4359-4A77-BEC4-037EA1BB574D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負責判斷與規劃；不能出錯的 ID、查詢與格式交給程式。</a:t>
            </a:r>
          </a:p>
        </p:txBody>
      </p:sp>
    </p:spTree>
    <p:extLst>
      <p:ext uri="{BB962C8B-B14F-4D97-AF65-F5344CB8AC3E}">
        <p14:creationId xmlns:p14="http://schemas.microsoft.com/office/powerpoint/2010/main" val="1461250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8">
            <a:extLst>
              <a:ext uri="{FF2B5EF4-FFF2-40B4-BE49-F238E27FC236}">
                <a16:creationId xmlns:a16="http://schemas.microsoft.com/office/drawing/2014/main" id="{B8728984-56CC-4565-98F5-74EE882DA83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前半段：Qwen 規劃，但只有工具能取得資料</a:t>
            </a:r>
          </a:p>
        </p:txBody>
      </p:sp>
      <p:sp>
        <p:nvSpPr>
          <p:cNvPr id="2" name="page-8">
            <a:extLst>
              <a:ext uri="{FF2B5EF4-FFF2-40B4-BE49-F238E27FC236}">
                <a16:creationId xmlns:a16="http://schemas.microsoft.com/office/drawing/2014/main" id="{CE725278-BA11-4FE8-BA35-3CDD1992F9C8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planner-detail-bg">
            <a:extLst>
              <a:ext uri="{FF2B5EF4-FFF2-40B4-BE49-F238E27FC236}">
                <a16:creationId xmlns:a16="http://schemas.microsoft.com/office/drawing/2014/main" id="{2EF830F0-2C12-4D66-9200-23160212DDED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planner-detail-heading">
            <a:extLst>
              <a:ext uri="{FF2B5EF4-FFF2-40B4-BE49-F238E27FC236}">
                <a16:creationId xmlns:a16="http://schemas.microsoft.com/office/drawing/2014/main" id="{21BFE223-ABB3-4764-A7F1-6A7A29316B4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Planner｜Qwen</a:t>
            </a:r>
          </a:p>
        </p:txBody>
      </p:sp>
      <p:sp>
        <p:nvSpPr>
          <p:cNvPr id="5" name="planner-detail-detail">
            <a:extLst>
              <a:ext uri="{FF2B5EF4-FFF2-40B4-BE49-F238E27FC236}">
                <a16:creationId xmlns:a16="http://schemas.microsoft.com/office/drawing/2014/main" id="{9B28D7AA-2F75-4F50-95B0-9609C7722DBD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9149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研究問題與查詢目的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四個來源的關鍵字、參數、順序與理由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預期資料缺口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不能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直接查資料庫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自行決定 Disease／Target ID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在查詢前宣稱關聯成立</a:t>
            </a:r>
          </a:p>
        </p:txBody>
      </p:sp>
      <p:sp>
        <p:nvSpPr>
          <p:cNvPr id="6" name="runner-detail-bg">
            <a:extLst>
              <a:ext uri="{FF2B5EF4-FFF2-40B4-BE49-F238E27FC236}">
                <a16:creationId xmlns:a16="http://schemas.microsoft.com/office/drawing/2014/main" id="{B9A933C7-0C7C-4BC9-BE5E-067637BBE8EE}"/>
              </a:ext>
            </a:extLst>
          </p:cNvPr>
          <p:cNvSpPr>
            <a:spLocks noGrp="1"/>
          </p:cNvSpPr>
          <p:nvPr/>
        </p:nvSpPr>
        <p:spPr>
          <a:xfrm>
            <a:off x="6457950" y="1333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runner-detail-heading">
            <a:extLst>
              <a:ext uri="{FF2B5EF4-FFF2-40B4-BE49-F238E27FC236}">
                <a16:creationId xmlns:a16="http://schemas.microsoft.com/office/drawing/2014/main" id="{50ED9346-B5E5-44EA-B2F8-F8DA317B5347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Runner｜Python</a:t>
            </a:r>
          </a:p>
        </p:txBody>
      </p:sp>
      <p:sp>
        <p:nvSpPr>
          <p:cNvPr id="8" name="runner-detail-detail">
            <a:extLst>
              <a:ext uri="{FF2B5EF4-FFF2-40B4-BE49-F238E27FC236}">
                <a16:creationId xmlns:a16="http://schemas.microsoft.com/office/drawing/2014/main" id="{6D175D0A-9465-42B6-95A1-24E1020EC4E3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9149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執行通過驗證的 Research Plan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保存原始回傳、參數、時間與錯誤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只使用已註冊工具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目前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Open Targets 有部分查詢能力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其餘三個正式工具尚未完成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Collection Policy 未定時不大量下載</a:t>
            </a:r>
          </a:p>
        </p:txBody>
      </p:sp>
    </p:spTree>
    <p:extLst>
      <p:ext uri="{BB962C8B-B14F-4D97-AF65-F5344CB8AC3E}">
        <p14:creationId xmlns:p14="http://schemas.microsoft.com/office/powerpoint/2010/main" val="137569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9">
            <a:extLst>
              <a:ext uri="{FF2B5EF4-FFF2-40B4-BE49-F238E27FC236}">
                <a16:creationId xmlns:a16="http://schemas.microsoft.com/office/drawing/2014/main" id="{56FAAFD7-67AB-4141-B2BC-92F0D927694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後半段：程式保護事實，Qwen 才能解讀證據</a:t>
            </a:r>
          </a:p>
        </p:txBody>
      </p:sp>
      <p:sp>
        <p:nvSpPr>
          <p:cNvPr id="2" name="page-9">
            <a:extLst>
              <a:ext uri="{FF2B5EF4-FFF2-40B4-BE49-F238E27FC236}">
                <a16:creationId xmlns:a16="http://schemas.microsoft.com/office/drawing/2014/main" id="{4E4AD4FB-4AE6-44AD-A8F3-954DC48B0347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validator-detail-bg">
            <a:extLst>
              <a:ext uri="{FF2B5EF4-FFF2-40B4-BE49-F238E27FC236}">
                <a16:creationId xmlns:a16="http://schemas.microsoft.com/office/drawing/2014/main" id="{4F35D718-ACEB-4088-8CF7-4F3CC456441B}"/>
              </a:ext>
            </a:extLst>
          </p:cNvPr>
          <p:cNvSpPr>
            <a:spLocks noGrp="1"/>
          </p:cNvSpPr>
          <p:nvPr/>
        </p:nvSpPr>
        <p:spPr>
          <a:xfrm>
            <a:off x="400050" y="1333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validator-detail-heading">
            <a:extLst>
              <a:ext uri="{FF2B5EF4-FFF2-40B4-BE49-F238E27FC236}">
                <a16:creationId xmlns:a16="http://schemas.microsoft.com/office/drawing/2014/main" id="{2461E5D7-F1FD-4E45-802D-C43448D5E51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Validator｜Python</a:t>
            </a:r>
          </a:p>
        </p:txBody>
      </p:sp>
      <p:sp>
        <p:nvSpPr>
          <p:cNvPr id="5" name="validator-detail-detail">
            <a:extLst>
              <a:ext uri="{FF2B5EF4-FFF2-40B4-BE49-F238E27FC236}">
                <a16:creationId xmlns:a16="http://schemas.microsoft.com/office/drawing/2014/main" id="{463FEB2C-FF47-474D-AD60-882EB3B75B9C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9149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驗證 Disease／Target ID 與必要來源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檢查 schema、分頁、截斷與錯誤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防止 Qwen 修改已驗證資訊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本週修正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疾病有歧義時停止並列候選 ID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KRAS symbol 與 Ensembl ID 由 Python 強制保留</a:t>
            </a:r>
          </a:p>
        </p:txBody>
      </p:sp>
      <p:sp>
        <p:nvSpPr>
          <p:cNvPr id="6" name="synth-detail-bg">
            <a:extLst>
              <a:ext uri="{FF2B5EF4-FFF2-40B4-BE49-F238E27FC236}">
                <a16:creationId xmlns:a16="http://schemas.microsoft.com/office/drawing/2014/main" id="{A7D17367-DFF0-4DF0-A0D9-072A7C49DE22}"/>
              </a:ext>
            </a:extLst>
          </p:cNvPr>
          <p:cNvSpPr>
            <a:spLocks noGrp="1"/>
          </p:cNvSpPr>
          <p:nvPr/>
        </p:nvSpPr>
        <p:spPr>
          <a:xfrm>
            <a:off x="6457950" y="1333500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synth-detail-heading">
            <a:extLst>
              <a:ext uri="{FF2B5EF4-FFF2-40B4-BE49-F238E27FC236}">
                <a16:creationId xmlns:a16="http://schemas.microsoft.com/office/drawing/2014/main" id="{02370C57-98FA-465E-9C0C-064E471D62B0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914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Synthesizer｜Qwen</a:t>
            </a:r>
          </a:p>
        </p:txBody>
      </p:sp>
      <p:sp>
        <p:nvSpPr>
          <p:cNvPr id="8" name="synth-detail-detail">
            <a:extLst>
              <a:ext uri="{FF2B5EF4-FFF2-40B4-BE49-F238E27FC236}">
                <a16:creationId xmlns:a16="http://schemas.microsoft.com/office/drawing/2014/main" id="{841B6863-3B09-4F37-8219-38FCA664E3CB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91490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負責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只閱讀已查回且驗證通過的證據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區分資料庫事實與模型解讀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分析支持、衝突與資料缺口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必要時提出一次追加查詢</a:t>
            </a:r>
          </a:p>
          <a:p>
            <a:endParaRPr sz="1350" b="0">
              <a:solidFill>
                <a:srgbClr val="5D6470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不能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修改原始分數或 evidence records</a:t>
            </a:r>
          </a:p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• 把 Open Targets 分數當成成功率</a:t>
            </a:r>
          </a:p>
        </p:txBody>
      </p:sp>
    </p:spTree>
    <p:extLst>
      <p:ext uri="{BB962C8B-B14F-4D97-AF65-F5344CB8AC3E}">
        <p14:creationId xmlns:p14="http://schemas.microsoft.com/office/powerpoint/2010/main" val="9203569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DocSecurity>0</DocSecurity>
  <PresentationFormat>寬螢幕</PresentationFormat>
  <Paragraphs>164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葆凱 王</cp:lastModifiedBy>
  <cp:revision>1</cp:revision>
  <dcterms:created xsi:type="dcterms:W3CDTF">2026-08-16T14:02:14Z</dcterms:created>
  <dcterms:modified xsi:type="dcterms:W3CDTF">2026-08-16T14:19:10Z</dcterms:modified>
</cp:coreProperties>
</file>