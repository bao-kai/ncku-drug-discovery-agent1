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c78acf98194cd6" /><Relationship Type="http://schemas.openxmlformats.org/officeDocument/2006/relationships/extended-properties" Target="/docProps/app.xml" Id="R5445b96085f04e1c" /><Relationship Type="http://schemas.openxmlformats.org/officeDocument/2006/relationships/officeDocument" Target="/ppt/presentation.xml" Id="R4a63cf635d804c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2a311ca08542d1"/>
  </p:sldMasterIdLst>
  <p:notesMasterIdLst>
    <p:notesMasterId xmlns:r="http://schemas.openxmlformats.org/officeDocument/2006/relationships" r:id="R598967db77d54241"/>
  </p:notesMasterIdLst>
  <p:sldIdLst>
    <p:sldId xmlns:r="http://schemas.openxmlformats.org/officeDocument/2006/relationships" id="256" r:id="Ra2077a2612004112"/>
    <p:sldId xmlns:r="http://schemas.openxmlformats.org/officeDocument/2006/relationships" id="257" r:id="R587550a788ee4165"/>
    <p:sldId xmlns:r="http://schemas.openxmlformats.org/officeDocument/2006/relationships" id="258" r:id="R1991e5c56a984c5e"/>
    <p:sldId xmlns:r="http://schemas.openxmlformats.org/officeDocument/2006/relationships" id="259" r:id="R6d4f98eb270f4ed9"/>
    <p:sldId xmlns:r="http://schemas.openxmlformats.org/officeDocument/2006/relationships" id="260" r:id="R0d1d9bef7ceb464d"/>
    <p:sldId xmlns:r="http://schemas.openxmlformats.org/officeDocument/2006/relationships" id="261" r:id="Rf7de351718b54dbe"/>
    <p:sldId xmlns:r="http://schemas.openxmlformats.org/officeDocument/2006/relationships" id="262" r:id="R3a61f9817e944adc"/>
    <p:sldId xmlns:r="http://schemas.openxmlformats.org/officeDocument/2006/relationships" id="263" r:id="R29984f41b11246c4"/>
    <p:sldId xmlns:r="http://schemas.openxmlformats.org/officeDocument/2006/relationships" id="264" r:id="R9a0ecada202843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7208d666ca4db9" /><Relationship Type="http://schemas.openxmlformats.org/officeDocument/2006/relationships/slideMaster" Target="/ppt/slideMasters/slideMaster1.xml" Id="Rc02a311ca08542d1" /><Relationship Type="http://schemas.openxmlformats.org/officeDocument/2006/relationships/notesMaster" Target="/ppt/notesMasters/notesMaster1.xml" Id="R598967db77d54241" /><Relationship Type="http://schemas.openxmlformats.org/officeDocument/2006/relationships/presProps" Target="/ppt/presProps.xml" Id="R2180dce7c89347ae" /><Relationship Type="http://schemas.openxmlformats.org/officeDocument/2006/relationships/tableStyles" Target="/ppt/tableStyles.xml" Id="Rff96de7c67304e8c" /><Relationship Type="http://schemas.openxmlformats.org/officeDocument/2006/relationships/slide" Target="/ppt/slides/slide1.xml" Id="Ra2077a2612004112" /><Relationship Type="http://schemas.openxmlformats.org/officeDocument/2006/relationships/slide" Target="/ppt/slides/slide2.xml" Id="R587550a788ee4165" /><Relationship Type="http://schemas.openxmlformats.org/officeDocument/2006/relationships/slide" Target="/ppt/slides/slide3.xml" Id="R1991e5c56a984c5e" /><Relationship Type="http://schemas.openxmlformats.org/officeDocument/2006/relationships/slide" Target="/ppt/slides/slide4.xml" Id="R6d4f98eb270f4ed9" /><Relationship Type="http://schemas.openxmlformats.org/officeDocument/2006/relationships/slide" Target="/ppt/slides/slide5.xml" Id="R0d1d9bef7ceb464d" /><Relationship Type="http://schemas.openxmlformats.org/officeDocument/2006/relationships/slide" Target="/ppt/slides/slide6.xml" Id="Rf7de351718b54dbe" /><Relationship Type="http://schemas.openxmlformats.org/officeDocument/2006/relationships/slide" Target="/ppt/slides/slide7.xml" Id="R3a61f9817e944adc" /><Relationship Type="http://schemas.openxmlformats.org/officeDocument/2006/relationships/slide" Target="/ppt/slides/slide8.xml" Id="R29984f41b11246c4" /><Relationship Type="http://schemas.openxmlformats.org/officeDocument/2006/relationships/slide" Target="/ppt/slides/slide9.xml" Id="R9a0ecada202843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6a7f16533144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e5d8c8f96b438c" /><Relationship Type="http://schemas.openxmlformats.org/officeDocument/2006/relationships/notesMaster" Target="/ppt/notesMasters/notesMaster1.xml" Id="R86b752cb77c442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84b5581ca347d5" /><Relationship Type="http://schemas.openxmlformats.org/officeDocument/2006/relationships/notesMaster" Target="/ppt/notesMasters/notesMaster1.xml" Id="Rbfc317e72b6b49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6c7f1e031b4e9b" /><Relationship Type="http://schemas.openxmlformats.org/officeDocument/2006/relationships/notesMaster" Target="/ppt/notesMasters/notesMaster1.xml" Id="R6c71d82d23544c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5b96a55e184d30" /><Relationship Type="http://schemas.openxmlformats.org/officeDocument/2006/relationships/notesMaster" Target="/ppt/notesMasters/notesMaster1.xml" Id="Rfaa61273810145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dd0932d8624f65" /><Relationship Type="http://schemas.openxmlformats.org/officeDocument/2006/relationships/notesMaster" Target="/ppt/notesMasters/notesMaster1.xml" Id="R7145eb1e607645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17334a730840c7" /><Relationship Type="http://schemas.openxmlformats.org/officeDocument/2006/relationships/notesMaster" Target="/ppt/notesMasters/notesMaster1.xml" Id="Ref300b7270c742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0743b6d47941f1" /><Relationship Type="http://schemas.openxmlformats.org/officeDocument/2006/relationships/notesMaster" Target="/ppt/notesMasters/notesMaster1.xml" Id="R9bfe88e34b3644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48e8f5a725453c" /><Relationship Type="http://schemas.openxmlformats.org/officeDocument/2006/relationships/notesMaster" Target="/ppt/notesMasters/notesMaster1.xml" Id="R3242d0adff8243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ef7d55d7834d0d" /><Relationship Type="http://schemas.openxmlformats.org/officeDocument/2006/relationships/notesMaster" Target="/ppt/notesMasters/notesMaster1.xml" Id="Rde41d7d1c0ef46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PROJECT_STATUS.md in the canonical workspace; accessed 2026-08-16.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PROJECT_STATUS.md in the canonical workspace; accessed 2026-08-16.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PROJECT_STATUS.md in the canonical workspace; accessed 2026-08-16.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PROJECT_STATUS.md in the canonical workspace; accessed 2026-08-16.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PROJECT_STATUS.md in the canonical workspace; accessed 2026-08-16.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PROJECT_STATUS.md in the canonical workspace; accessed 2026-08-16.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PROJECT_STATUS.md in the canonical workspace; accessed 2026-08-16.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PROJECT_STATUS.md in the canonical workspace; accessed 2026-08-16.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PROJECT_STATUS.md in the canonical workspace; accessed 2026-08-16.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872ae035c42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699f0f40bf49f7" /><Relationship Type="http://schemas.openxmlformats.org/officeDocument/2006/relationships/slideLayout" Target="/ppt/slideLayouts/slideLayout1.xml" Id="R4781aca9563e47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81aca9563e47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1f3a2cf7c4d4e" /><Relationship Type="http://schemas.openxmlformats.org/officeDocument/2006/relationships/notesSlide" Target="/ppt/notesSlides/notesSlide1.xml" Id="Re085aef37d714b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97357f47149cb" /><Relationship Type="http://schemas.openxmlformats.org/officeDocument/2006/relationships/notesSlide" Target="/ppt/notesSlides/notesSlide2.xml" Id="R3071185dab2f4c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56f52f64b491a" /><Relationship Type="http://schemas.openxmlformats.org/officeDocument/2006/relationships/notesSlide" Target="/ppt/notesSlides/notesSlide3.xml" Id="R3254b771aaf34c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93e47bacb46a1" /><Relationship Type="http://schemas.openxmlformats.org/officeDocument/2006/relationships/notesSlide" Target="/ppt/notesSlides/notesSlide4.xml" Id="R47633938082c45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875cb31db4268" /><Relationship Type="http://schemas.openxmlformats.org/officeDocument/2006/relationships/notesSlide" Target="/ppt/notesSlides/notesSlide5.xml" Id="Ra0f5cd6b13d141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7fc02d6d34ca1" /><Relationship Type="http://schemas.openxmlformats.org/officeDocument/2006/relationships/notesSlide" Target="/ppt/notesSlides/notesSlide6.xml" Id="R0542fbb4839c42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bfe9b34594e28" /><Relationship Type="http://schemas.openxmlformats.org/officeDocument/2006/relationships/notesSlide" Target="/ppt/notesSlides/notesSlide7.xml" Id="R9b5a2f402c714d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e5662b6ea4a93" /><Relationship Type="http://schemas.openxmlformats.org/officeDocument/2006/relationships/notesSlide" Target="/ppt/notesSlides/notesSlide8.xml" Id="Rdeb4118e360147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117911d324663" /><Relationship Type="http://schemas.openxmlformats.org/officeDocument/2006/relationships/notesSlide" Target="/ppt/notesSlides/notesSlide9.xml" Id="R18c084db7bec4b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AGENT 1｜WEEKLY PROGRESS-42">
            <a:extLst xmlns:a="http://schemas.openxmlformats.org/drawingml/2006/main">
              <a:ext uri="{FF2B5EF4-FFF2-40B4-BE49-F238E27FC236}">
                <a16:creationId xmlns:a16="http://schemas.microsoft.com/office/drawing/2014/main" id="{55991868-633C-44D3-A26F-255C0C14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AGENT 1｜WEEKLY PROGRESS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8CC5D02-A5E4-4628-AF6E-5141D9BA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14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本週進度報告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A2EAE78-2824-442C-8DD8-F3EF22F0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疾病候選 Target 探索、確定性查詢與內部分工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305BD09-DD6C-48C4-BA07-6212D31D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case">
            <a:extLst xmlns:a="http://schemas.openxmlformats.org/drawingml/2006/main">
              <a:ext uri="{FF2B5EF4-FFF2-40B4-BE49-F238E27FC236}">
                <a16:creationId xmlns:a16="http://schemas.microsoft.com/office/drawing/2014/main" id="{9F95976D-94E1-4DA8-A67C-8FEEF454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統一案例：pancreatic cancer × KRAS</a:t>
            </a:r>
          </a:p>
        </p:txBody>
      </p:sp>
    </p:spTree>
    <p:extLst>
      <p:ext uri="{BB962C8B-B14F-4D97-AF65-F5344CB8AC3E}">
        <p14:creationId xmlns:p14="http://schemas.microsoft.com/office/powerpoint/2010/main" val="19618998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">
            <a:extLst xmlns:a="http://schemas.openxmlformats.org/drawingml/2006/main">
              <a:ext uri="{FF2B5EF4-FFF2-40B4-BE49-F238E27FC236}">
                <a16:creationId xmlns:a16="http://schemas.microsoft.com/office/drawing/2014/main" id="{50B7D912-84A2-4EC0-B00A-1B0AF907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本週完成三項 Agent 1 基礎能力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2C572179-A958-4B74-B0B9-AA9B9FAF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outcome1-bg">
            <a:extLst xmlns:a="http://schemas.openxmlformats.org/drawingml/2006/main">
              <a:ext uri="{FF2B5EF4-FFF2-40B4-BE49-F238E27FC236}">
                <a16:creationId xmlns:a16="http://schemas.microsoft.com/office/drawing/2014/main" id="{01589AE0-FDED-4D4C-811A-10776B2A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29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utcome1-heading">
            <a:extLst xmlns:a="http://schemas.openxmlformats.org/drawingml/2006/main">
              <a:ext uri="{FF2B5EF4-FFF2-40B4-BE49-F238E27FC236}">
                <a16:creationId xmlns:a16="http://schemas.microsoft.com/office/drawing/2014/main" id="{594CAFB2-BC87-4ADE-9C2C-5725E882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　疾病探索</a:t>
            </a:r>
          </a:p>
        </p:txBody>
      </p:sp>
      <p:sp>
        <p:nvSpPr>
          <p:cNvPr id="5" name="outcome1-detail">
            <a:extLst xmlns:a="http://schemas.openxmlformats.org/drawingml/2006/main">
              <a:ext uri="{FF2B5EF4-FFF2-40B4-BE49-F238E27FC236}">
                <a16:creationId xmlns:a16="http://schemas.microsoft.com/office/drawing/2014/main" id="{6B5B681F-57C0-4EC7-ADF2-F4FCEA21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0099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只輸入疾病名稱，取得前 10 個候選 Targets。</a:t>
            </a:r>
          </a:p>
        </p:txBody>
      </p:sp>
      <p:sp>
        <p:nvSpPr>
          <p:cNvPr id="6" name="outcome2-bg">
            <a:extLst xmlns:a="http://schemas.openxmlformats.org/drawingml/2006/main">
              <a:ext uri="{FF2B5EF4-FFF2-40B4-BE49-F238E27FC236}">
                <a16:creationId xmlns:a16="http://schemas.microsoft.com/office/drawing/2014/main" id="{9B729D90-9B7B-4153-A8E3-AF4E1B78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utcome2-heading">
            <a:extLst xmlns:a="http://schemas.openxmlformats.org/drawingml/2006/main">
              <a:ext uri="{FF2B5EF4-FFF2-40B4-BE49-F238E27FC236}">
                <a16:creationId xmlns:a16="http://schemas.microsoft.com/office/drawing/2014/main" id="{13F8CB3A-F09B-480E-B1D3-DFF36DB1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　確定性查詢</a:t>
            </a:r>
          </a:p>
        </p:txBody>
      </p:sp>
      <p:sp>
        <p:nvSpPr>
          <p:cNvPr id="8" name="outcome2-detail">
            <a:extLst xmlns:a="http://schemas.openxmlformats.org/drawingml/2006/main">
              <a:ext uri="{FF2B5EF4-FFF2-40B4-BE49-F238E27FC236}">
                <a16:creationId xmlns:a16="http://schemas.microsoft.com/office/drawing/2014/main" id="{B3CACE99-950A-4165-8547-29A137FD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71750"/>
            <a:ext cx="30099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保留不經 LLM 的 Disease–Target 原始資料路徑。</a:t>
            </a:r>
          </a:p>
        </p:txBody>
      </p:sp>
      <p:sp>
        <p:nvSpPr>
          <p:cNvPr id="9" name="outcome3-bg">
            <a:extLst xmlns:a="http://schemas.openxmlformats.org/drawingml/2006/main">
              <a:ext uri="{FF2B5EF4-FFF2-40B4-BE49-F238E27FC236}">
                <a16:creationId xmlns:a16="http://schemas.microsoft.com/office/drawing/2014/main" id="{F4BC2E39-F5FE-4C23-9555-FBE9032D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3429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utcome3-heading">
            <a:extLst xmlns:a="http://schemas.openxmlformats.org/drawingml/2006/main">
              <a:ext uri="{FF2B5EF4-FFF2-40B4-BE49-F238E27FC236}">
                <a16:creationId xmlns:a16="http://schemas.microsoft.com/office/drawing/2014/main" id="{9C4072C9-F5E2-410F-A1B4-C6050670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　四項分工</a:t>
            </a:r>
          </a:p>
        </p:txBody>
      </p:sp>
      <p:sp>
        <p:nvSpPr>
          <p:cNvPr id="11" name="outcome3-detail">
            <a:extLst xmlns:a="http://schemas.openxmlformats.org/drawingml/2006/main">
              <a:ext uri="{FF2B5EF4-FFF2-40B4-BE49-F238E27FC236}">
                <a16:creationId xmlns:a16="http://schemas.microsoft.com/office/drawing/2014/main" id="{AEF6BC5F-1E14-4F11-85B7-6638CE56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30099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規劃、查詢、驗證與解讀分開，降低混用風險。</a:t>
            </a:r>
          </a:p>
        </p:txBody>
      </p:sp>
      <p:sp>
        <p:nvSpPr>
          <p:cNvPr id="12" name="outcome-bottom">
            <a:extLst xmlns:a="http://schemas.openxmlformats.org/drawingml/2006/main">
              <a:ext uri="{FF2B5EF4-FFF2-40B4-BE49-F238E27FC236}">
                <a16:creationId xmlns:a16="http://schemas.microsoft.com/office/drawing/2014/main" id="{8B64735B-FB3A-4E19-8BC4-86B42893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本週重點是建立可驗證的流程基礎，而不是宣稱四個資料來源已全部完成。</a:t>
            </a:r>
          </a:p>
        </p:txBody>
      </p:sp>
    </p:spTree>
    <p:extLst>
      <p:ext uri="{BB962C8B-B14F-4D97-AF65-F5344CB8AC3E}">
        <p14:creationId xmlns:p14="http://schemas.microsoft.com/office/powerpoint/2010/main" val="20166757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3">
            <a:extLst xmlns:a="http://schemas.openxmlformats.org/drawingml/2006/main">
              <a:ext uri="{FF2B5EF4-FFF2-40B4-BE49-F238E27FC236}">
                <a16:creationId xmlns:a16="http://schemas.microsoft.com/office/drawing/2014/main" id="{198B3085-FD38-491B-B565-4D06FA91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只輸入疾病名稱，先完成候選 Target 篩選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682A0E92-285C-433F-959E-0D04C29B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arrow-292">
            <a:extLst xmlns:a="http://schemas.openxmlformats.org/drawingml/2006/main">
              <a:ext uri="{FF2B5EF4-FFF2-40B4-BE49-F238E27FC236}">
                <a16:creationId xmlns:a16="http://schemas.microsoft.com/office/drawing/2014/main" id="{2381C8D2-1561-49A8-997D-01D5BF81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2417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row-607">
            <a:extLst xmlns:a="http://schemas.openxmlformats.org/drawingml/2006/main">
              <a:ext uri="{FF2B5EF4-FFF2-40B4-BE49-F238E27FC236}">
                <a16:creationId xmlns:a16="http://schemas.microsoft.com/office/drawing/2014/main" id="{EDCD7C96-665E-4E2D-B078-352BA994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92417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922">
            <a:extLst xmlns:a="http://schemas.openxmlformats.org/drawingml/2006/main">
              <a:ext uri="{FF2B5EF4-FFF2-40B4-BE49-F238E27FC236}">
                <a16:creationId xmlns:a16="http://schemas.microsoft.com/office/drawing/2014/main" id="{1DE46BEB-C8A7-444B-9470-6946A4AF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2417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sease-bg">
            <a:extLst xmlns:a="http://schemas.openxmlformats.org/drawingml/2006/main">
              <a:ext uri="{FF2B5EF4-FFF2-40B4-BE49-F238E27FC236}">
                <a16:creationId xmlns:a16="http://schemas.microsoft.com/office/drawing/2014/main" id="{F2128AD4-C8B8-4357-A0A7-1A2F21D4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sease-heading">
            <a:extLst xmlns:a="http://schemas.openxmlformats.org/drawingml/2006/main">
              <a:ext uri="{FF2B5EF4-FFF2-40B4-BE49-F238E27FC236}">
                <a16:creationId xmlns:a16="http://schemas.microsoft.com/office/drawing/2014/main" id="{305FDB51-0DB5-427E-9736-E6D5C40B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輸入疾病</a:t>
            </a:r>
          </a:p>
        </p:txBody>
      </p:sp>
      <p:sp>
        <p:nvSpPr>
          <p:cNvPr id="8" name="disease-detail">
            <a:extLst xmlns:a="http://schemas.openxmlformats.org/drawingml/2006/main">
              <a:ext uri="{FF2B5EF4-FFF2-40B4-BE49-F238E27FC236}">
                <a16:creationId xmlns:a16="http://schemas.microsoft.com/office/drawing/2014/main" id="{93137B7E-102E-4749-9CEA-AB3A016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pancreatic cancer</a:t>
            </a:r>
          </a:p>
        </p:txBody>
      </p:sp>
      <p:sp>
        <p:nvSpPr>
          <p:cNvPr id="9" name="ontology-bg">
            <a:extLst xmlns:a="http://schemas.openxmlformats.org/drawingml/2006/main">
              <a:ext uri="{FF2B5EF4-FFF2-40B4-BE49-F238E27FC236}">
                <a16:creationId xmlns:a16="http://schemas.microsoft.com/office/drawing/2014/main" id="{02A20459-4394-4401-A742-C06B868C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907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ntology-heading">
            <a:extLst xmlns:a="http://schemas.openxmlformats.org/drawingml/2006/main">
              <a:ext uri="{FF2B5EF4-FFF2-40B4-BE49-F238E27FC236}">
                <a16:creationId xmlns:a16="http://schemas.microsoft.com/office/drawing/2014/main" id="{1423F637-BC5A-442F-BE3A-E9BEAED0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812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解析 ontology</a:t>
            </a:r>
          </a:p>
        </p:txBody>
      </p:sp>
      <p:sp>
        <p:nvSpPr>
          <p:cNvPr id="11" name="ontology-detail">
            <a:extLst xmlns:a="http://schemas.openxmlformats.org/drawingml/2006/main">
              <a:ext uri="{FF2B5EF4-FFF2-40B4-BE49-F238E27FC236}">
                <a16:creationId xmlns:a16="http://schemas.microsoft.com/office/drawing/2014/main" id="{98EA8656-CA01-4488-971D-7EE159F8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52750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確認 Disease ID；有歧義時停止並列候選。</a:t>
            </a:r>
          </a:p>
        </p:txBody>
      </p:sp>
      <p:sp>
        <p:nvSpPr>
          <p:cNvPr id="12" name="rank-bg">
            <a:extLst xmlns:a="http://schemas.openxmlformats.org/drawingml/2006/main">
              <a:ext uri="{FF2B5EF4-FFF2-40B4-BE49-F238E27FC236}">
                <a16:creationId xmlns:a16="http://schemas.microsoft.com/office/drawing/2014/main" id="{67341A00-E869-446C-AAAF-5E1815FD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nk-heading">
            <a:extLst xmlns:a="http://schemas.openxmlformats.org/drawingml/2006/main">
              <a:ext uri="{FF2B5EF4-FFF2-40B4-BE49-F238E27FC236}">
                <a16:creationId xmlns:a16="http://schemas.microsoft.com/office/drawing/2014/main" id="{29810A12-A5EE-44AE-A160-38DFC8EA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2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 Targets 排序</a:t>
            </a:r>
          </a:p>
        </p:txBody>
      </p:sp>
      <p:sp>
        <p:nvSpPr>
          <p:cNvPr id="14" name="rank-detail">
            <a:extLst xmlns:a="http://schemas.openxmlformats.org/drawingml/2006/main">
              <a:ext uri="{FF2B5EF4-FFF2-40B4-BE49-F238E27FC236}">
                <a16:creationId xmlns:a16="http://schemas.microsoft.com/office/drawing/2014/main" id="{A8AD4774-2598-47AF-9381-9CCA3C58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目前依 overall association score 初排。</a:t>
            </a:r>
          </a:p>
        </p:txBody>
      </p:sp>
      <p:sp>
        <p:nvSpPr>
          <p:cNvPr id="15" name="top10-bg">
            <a:extLst xmlns:a="http://schemas.openxmlformats.org/drawingml/2006/main">
              <a:ext uri="{FF2B5EF4-FFF2-40B4-BE49-F238E27FC236}">
                <a16:creationId xmlns:a16="http://schemas.microsoft.com/office/drawing/2014/main" id="{F9966573-C388-42F6-B1BB-45C62E24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90750"/>
            <a:ext cx="23907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op10-heading">
            <a:extLst xmlns:a="http://schemas.openxmlformats.org/drawingml/2006/main">
              <a:ext uri="{FF2B5EF4-FFF2-40B4-BE49-F238E27FC236}">
                <a16:creationId xmlns:a16="http://schemas.microsoft.com/office/drawing/2014/main" id="{B6CB3246-5CB3-40DB-A647-E481993D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81250"/>
            <a:ext cx="1971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輸出前 10 個</a:t>
            </a:r>
          </a:p>
        </p:txBody>
      </p:sp>
      <p:sp>
        <p:nvSpPr>
          <p:cNvPr id="17" name="top10-detail">
            <a:extLst xmlns:a="http://schemas.openxmlformats.org/drawingml/2006/main">
              <a:ext uri="{FF2B5EF4-FFF2-40B4-BE49-F238E27FC236}">
                <a16:creationId xmlns:a16="http://schemas.microsoft.com/office/drawing/2014/main" id="{2B4EA313-63FA-4B38-B3C9-E2C4083D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52750"/>
            <a:ext cx="1971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Target symbol、Ensembl ID、名稱與分數。</a:t>
            </a:r>
          </a:p>
        </p:txBody>
      </p:sp>
      <p:sp>
        <p:nvSpPr>
          <p:cNvPr id="18" name="scope-note">
            <a:extLst xmlns:a="http://schemas.openxmlformats.org/drawingml/2006/main">
              <a:ext uri="{FF2B5EF4-FFF2-40B4-BE49-F238E27FC236}">
                <a16:creationId xmlns:a16="http://schemas.microsoft.com/office/drawing/2014/main" id="{2CFFEB81-86DC-4315-807F-56113A07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目前完成到「候選篩選」；尚未自動展開 10 個 Targets 的完整底層證據。</a:t>
            </a:r>
          </a:p>
        </p:txBody>
      </p:sp>
      <p:sp>
        <p:nvSpPr>
          <p:cNvPr id="19" name="score-note">
            <a:extLst xmlns:a="http://schemas.openxmlformats.org/drawingml/2006/main">
              <a:ext uri="{FF2B5EF4-FFF2-40B4-BE49-F238E27FC236}">
                <a16:creationId xmlns:a16="http://schemas.microsoft.com/office/drawing/2014/main" id="{A4836ABE-E31B-4948-88B7-AD8900CA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Open Targets 分數只作初始排序，不代表因果、療效或臨床成功率。</a:t>
            </a:r>
          </a:p>
        </p:txBody>
      </p:sp>
    </p:spTree>
    <p:extLst>
      <p:ext uri="{BB962C8B-B14F-4D97-AF65-F5344CB8AC3E}">
        <p14:creationId xmlns:p14="http://schemas.microsoft.com/office/powerpoint/2010/main" val="20648219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4">
            <a:extLst xmlns:a="http://schemas.openxmlformats.org/drawingml/2006/main">
              <a:ext uri="{FF2B5EF4-FFF2-40B4-BE49-F238E27FC236}">
                <a16:creationId xmlns:a16="http://schemas.microsoft.com/office/drawing/2014/main" id="{E6854D8D-5068-4205-A360-C3AAA593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前 10 個 Targets 之後，需由團隊決定查詢策略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CC130D88-FF24-48B7-8C71-0B61A508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decision-intro">
            <a:extLst xmlns:a="http://schemas.openxmlformats.org/drawingml/2006/main">
              <a:ext uri="{FF2B5EF4-FFF2-40B4-BE49-F238E27FC236}">
                <a16:creationId xmlns:a16="http://schemas.microsoft.com/office/drawing/2014/main" id="{CCB4C548-8498-4720-B0D9-AF443FB4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5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兩種做法都保留；差別在人工篩選程度與資料量。</a:t>
            </a:r>
          </a:p>
        </p:txBody>
      </p:sp>
      <p:sp>
        <p:nvSpPr>
          <p:cNvPr id="4" name="optionA-bg">
            <a:extLst xmlns:a="http://schemas.openxmlformats.org/drawingml/2006/main">
              <a:ext uri="{FF2B5EF4-FFF2-40B4-BE49-F238E27FC236}">
                <a16:creationId xmlns:a16="http://schemas.microsoft.com/office/drawing/2014/main" id="{F171E4A1-070C-43F1-9DCF-28F9AC22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ptionA-heading">
            <a:extLst xmlns:a="http://schemas.openxmlformats.org/drawingml/2006/main">
              <a:ext uri="{FF2B5EF4-FFF2-40B4-BE49-F238E27FC236}">
                <a16:creationId xmlns:a16="http://schemas.microsoft.com/office/drawing/2014/main" id="{46E757AD-79D4-43D9-A48D-9933BF6F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方案 A｜人工選擇後再查</a:t>
            </a:r>
          </a:p>
        </p:txBody>
      </p:sp>
      <p:sp>
        <p:nvSpPr>
          <p:cNvPr id="6" name="optionA-detail">
            <a:extLst xmlns:a="http://schemas.openxmlformats.org/drawingml/2006/main">
              <a:ext uri="{FF2B5EF4-FFF2-40B4-BE49-F238E27FC236}">
                <a16:creationId xmlns:a16="http://schemas.microsoft.com/office/drawing/2014/main" id="{A97F493F-6957-42D6-9048-B2B60A7F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9149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先看前 10 名，再挑部分 Targets 執行完整 Disease–Target 查詢。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優點：資料量較小、適合目前討論儲存結構。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限制：依賴人工判斷，可能漏掉不明顯候選。</a:t>
            </a:r>
          </a:p>
        </p:txBody>
      </p:sp>
      <p:sp>
        <p:nvSpPr>
          <p:cNvPr id="7" name="optionB-bg">
            <a:extLst xmlns:a="http://schemas.openxmlformats.org/drawingml/2006/main">
              <a:ext uri="{FF2B5EF4-FFF2-40B4-BE49-F238E27FC236}">
                <a16:creationId xmlns:a16="http://schemas.microsoft.com/office/drawing/2014/main" id="{1A62C522-9856-40F5-9652-1A34F449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ptionB-heading">
            <a:extLst xmlns:a="http://schemas.openxmlformats.org/drawingml/2006/main">
              <a:ext uri="{FF2B5EF4-FFF2-40B4-BE49-F238E27FC236}">
                <a16:creationId xmlns:a16="http://schemas.microsoft.com/office/drawing/2014/main" id="{8C749D0C-1350-4685-9E9E-BFCE01C8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方案 B｜10 個全部展開</a:t>
            </a:r>
          </a:p>
        </p:txBody>
      </p:sp>
      <p:sp>
        <p:nvSpPr>
          <p:cNvPr id="9" name="optionB-detail">
            <a:extLst xmlns:a="http://schemas.openxmlformats.org/drawingml/2006/main">
              <a:ext uri="{FF2B5EF4-FFF2-40B4-BE49-F238E27FC236}">
                <a16:creationId xmlns:a16="http://schemas.microsoft.com/office/drawing/2014/main" id="{71129515-84E4-4010-9CE1-363B8D27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9149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前 10 個 Targets 全部執行完整 Disease–Target 查詢，再跨 Target 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優點：證據較完整、符合自動探索方向。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限制：資料量、查詢時間與儲存需求較高。</a:t>
            </a:r>
          </a:p>
        </p:txBody>
      </p:sp>
      <p:sp>
        <p:nvSpPr>
          <p:cNvPr id="10" name="decision-question">
            <a:extLst xmlns:a="http://schemas.openxmlformats.org/drawingml/2006/main">
              <a:ext uri="{FF2B5EF4-FFF2-40B4-BE49-F238E27FC236}">
                <a16:creationId xmlns:a16="http://schemas.microsoft.com/office/drawing/2014/main" id="{7C8E5967-2780-44FD-8471-929DD324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團隊決策：先人工縮小範圍，或先完整取得 10 組證據？</a:t>
            </a:r>
          </a:p>
        </p:txBody>
      </p:sp>
    </p:spTree>
    <p:extLst>
      <p:ext uri="{BB962C8B-B14F-4D97-AF65-F5344CB8AC3E}">
        <p14:creationId xmlns:p14="http://schemas.microsoft.com/office/powerpoint/2010/main" val="6498811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5">
            <a:extLst xmlns:a="http://schemas.openxmlformats.org/drawingml/2006/main">
              <a:ext uri="{FF2B5EF4-FFF2-40B4-BE49-F238E27FC236}">
                <a16:creationId xmlns:a16="http://schemas.microsoft.com/office/drawing/2014/main" id="{BF3AE397-DBAE-4FBD-88D2-79FA33AF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不經 LLM 的查詢路徑，是整個系統的資料基準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AD12711C-6C88-4437-A6C8-66FAC93C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det-left-head">
            <a:extLst xmlns:a="http://schemas.openxmlformats.org/drawingml/2006/main">
              <a:ext uri="{FF2B5EF4-FFF2-40B4-BE49-F238E27FC236}">
                <a16:creationId xmlns:a16="http://schemas.microsoft.com/office/drawing/2014/main" id="{94C5C1C2-B37C-4C3C-8571-C2067298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確定性程式負責</a:t>
            </a:r>
          </a:p>
        </p:txBody>
      </p:sp>
      <p:sp>
        <p:nvSpPr>
          <p:cNvPr id="4" name="det-left">
            <a:extLst xmlns:a="http://schemas.openxmlformats.org/drawingml/2006/main">
              <a:ext uri="{FF2B5EF4-FFF2-40B4-BE49-F238E27FC236}">
                <a16:creationId xmlns:a16="http://schemas.microsoft.com/office/drawing/2014/main" id="{0B6C79F2-63B6-471C-9A0E-2D9486C8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Disease ontology ID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KRAS Ensembl ID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API 查詢與原始回傳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分數、筆數、分頁與截斷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JSON schema 驗證</a:t>
            </a:r>
          </a:p>
        </p:txBody>
      </p:sp>
      <p:sp>
        <p:nvSpPr>
          <p:cNvPr id="5" name="det-right-head">
            <a:extLst xmlns:a="http://schemas.openxmlformats.org/drawingml/2006/main">
              <a:ext uri="{FF2B5EF4-FFF2-40B4-BE49-F238E27FC236}">
                <a16:creationId xmlns:a16="http://schemas.microsoft.com/office/drawing/2014/main" id="{009915CF-70D6-4723-8EF7-861A58B6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保留這條路徑的價值</a:t>
            </a:r>
          </a:p>
        </p:txBody>
      </p:sp>
      <p:sp>
        <p:nvSpPr>
          <p:cNvPr id="6" name="det-right">
            <a:extLst xmlns:a="http://schemas.openxmlformats.org/drawingml/2006/main">
              <a:ext uri="{FF2B5EF4-FFF2-40B4-BE49-F238E27FC236}">
                <a16:creationId xmlns:a16="http://schemas.microsoft.com/office/drawing/2014/main" id="{D433E8A4-A057-4075-BF2A-97AD9FC7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與專家討論資料結構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比較 LLM 規劃品質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系統除錯與重現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證明資料來自工具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避免把模型文字當成資料庫事實</a:t>
            </a:r>
          </a:p>
        </p:txBody>
      </p:sp>
      <p:sp>
        <p:nvSpPr>
          <p:cNvPr id="7" name="det-rule">
            <a:extLst xmlns:a="http://schemas.openxmlformats.org/drawingml/2006/main">
              <a:ext uri="{FF2B5EF4-FFF2-40B4-BE49-F238E27FC236}">
                <a16:creationId xmlns:a16="http://schemas.microsoft.com/office/drawing/2014/main" id="{2A534DF2-7D5E-43D8-BEA5-352B3A90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t-case">
            <a:extLst xmlns:a="http://schemas.openxmlformats.org/drawingml/2006/main">
              <a:ext uri="{FF2B5EF4-FFF2-40B4-BE49-F238E27FC236}">
                <a16:creationId xmlns:a16="http://schemas.microsoft.com/office/drawing/2014/main" id="{B99E746C-A7CE-4326-8196-B62F29FB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統一測試案例：pancreatic cancer–KRAS</a:t>
            </a:r>
          </a:p>
        </p:txBody>
      </p:sp>
    </p:spTree>
    <p:extLst>
      <p:ext uri="{BB962C8B-B14F-4D97-AF65-F5344CB8AC3E}">
        <p14:creationId xmlns:p14="http://schemas.microsoft.com/office/powerpoint/2010/main" val="9278594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6">
            <a:extLst xmlns:a="http://schemas.openxmlformats.org/drawingml/2006/main">
              <a:ext uri="{FF2B5EF4-FFF2-40B4-BE49-F238E27FC236}">
                <a16:creationId xmlns:a16="http://schemas.microsoft.com/office/drawing/2014/main" id="{4B12C146-DD1D-467E-959B-0111D7A9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Disease–Target 查詢能深入證據，但目前仍有範圍限制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AF870890-7FA9-4049-ABFE-CE041C5B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facts-bg">
            <a:extLst xmlns:a="http://schemas.openxmlformats.org/drawingml/2006/main">
              <a:ext uri="{FF2B5EF4-FFF2-40B4-BE49-F238E27FC236}">
                <a16:creationId xmlns:a16="http://schemas.microsoft.com/office/drawing/2014/main" id="{83E46E3B-14F4-438D-AF60-08869A9F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238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cts-heading">
            <a:extLst xmlns:a="http://schemas.openxmlformats.org/drawingml/2006/main">
              <a:ext uri="{FF2B5EF4-FFF2-40B4-BE49-F238E27FC236}">
                <a16:creationId xmlns:a16="http://schemas.microsoft.com/office/drawing/2014/main" id="{88B26A3E-3C31-4BAC-A91E-05FFE54F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81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目前可輸出</a:t>
            </a:r>
          </a:p>
        </p:txBody>
      </p:sp>
      <p:sp>
        <p:nvSpPr>
          <p:cNvPr id="5" name="facts-detail">
            <a:extLst xmlns:a="http://schemas.openxmlformats.org/drawingml/2006/main">
              <a:ext uri="{FF2B5EF4-FFF2-40B4-BE49-F238E27FC236}">
                <a16:creationId xmlns:a16="http://schemas.microsoft.com/office/drawing/2014/main" id="{8BA96D7B-5648-4C04-AD97-FB4CD4E4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8196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疾病與 Target ID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Open Targets overall／datasource scores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clinical_precedence evidence records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總筆數、取得筆數與截斷狀態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原始欄位與專家檢查視圖</a:t>
            </a:r>
          </a:p>
        </p:txBody>
      </p:sp>
      <p:sp>
        <p:nvSpPr>
          <p:cNvPr id="6" name="limits-bg">
            <a:extLst xmlns:a="http://schemas.openxmlformats.org/drawingml/2006/main">
              <a:ext uri="{FF2B5EF4-FFF2-40B4-BE49-F238E27FC236}">
                <a16:creationId xmlns:a16="http://schemas.microsoft.com/office/drawing/2014/main" id="{77F13C41-110F-4C0A-B7E7-075D3347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53149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68C41451-FF49-4D38-9D77-E8C67C14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66875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目前限制</a:t>
            </a:r>
          </a:p>
        </p:txBody>
      </p:sp>
      <p:sp>
        <p:nvSpPr>
          <p:cNvPr id="8" name="limits-detail">
            <a:extLst xmlns:a="http://schemas.openxmlformats.org/drawingml/2006/main">
              <a:ext uri="{FF2B5EF4-FFF2-40B4-BE49-F238E27FC236}">
                <a16:creationId xmlns:a16="http://schemas.microsoft.com/office/drawing/2014/main" id="{2CBF5008-CB57-400E-AF68-6BF01349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38375"/>
            <a:ext cx="48958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詳細底層證據主要完成 clinical_precedence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其他 Open Targets datasource 尚未完整展開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Europe PMC、ClinicalTrials.gov、ChEMBL 正式工具尚未完成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正式儲存結構等待專家意見</a:t>
            </a:r>
          </a:p>
        </p:txBody>
      </p:sp>
      <p:sp>
        <p:nvSpPr>
          <p:cNvPr id="9" name="not-overclaim">
            <a:extLst xmlns:a="http://schemas.openxmlformats.org/drawingml/2006/main">
              <a:ext uri="{FF2B5EF4-FFF2-40B4-BE49-F238E27FC236}">
                <a16:creationId xmlns:a16="http://schemas.microsoft.com/office/drawing/2014/main" id="{2C9A63DB-5D20-4B92-A660-CDB79838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因此目前不能宣稱四個資料來源已完成自動證據收集。</a:t>
            </a:r>
          </a:p>
        </p:txBody>
      </p:sp>
    </p:spTree>
    <p:extLst>
      <p:ext uri="{BB962C8B-B14F-4D97-AF65-F5344CB8AC3E}">
        <p14:creationId xmlns:p14="http://schemas.microsoft.com/office/powerpoint/2010/main" val="11323956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7">
            <a:extLst xmlns:a="http://schemas.openxmlformats.org/drawingml/2006/main">
              <a:ext uri="{FF2B5EF4-FFF2-40B4-BE49-F238E27FC236}">
                <a16:creationId xmlns:a16="http://schemas.microsoft.com/office/drawing/2014/main" id="{D9469B85-971B-4DB1-973F-C1226968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1 拆成四個角色，讓每一步都能獨立驗證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E16D6E08-F5D3-4C4B-BF6A-A1E56740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role-arrow-292">
            <a:extLst xmlns:a="http://schemas.openxmlformats.org/drawingml/2006/main">
              <a:ext uri="{FF2B5EF4-FFF2-40B4-BE49-F238E27FC236}">
                <a16:creationId xmlns:a16="http://schemas.microsoft.com/office/drawing/2014/main" id="{BC2844FF-EF04-4823-BE0E-BA1A8092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9562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le-arrow-607">
            <a:extLst xmlns:a="http://schemas.openxmlformats.org/drawingml/2006/main">
              <a:ext uri="{FF2B5EF4-FFF2-40B4-BE49-F238E27FC236}">
                <a16:creationId xmlns:a16="http://schemas.microsoft.com/office/drawing/2014/main" id="{1F95C0C5-CAA6-4E0B-A3F7-9F499237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9562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le-arrow-922">
            <a:extLst xmlns:a="http://schemas.openxmlformats.org/drawingml/2006/main">
              <a:ext uri="{FF2B5EF4-FFF2-40B4-BE49-F238E27FC236}">
                <a16:creationId xmlns:a16="http://schemas.microsoft.com/office/drawing/2014/main" id="{307A25FC-9917-4D40-B6BD-3D5864EC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9562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lanner-bg">
            <a:extLst xmlns:a="http://schemas.openxmlformats.org/drawingml/2006/main">
              <a:ext uri="{FF2B5EF4-FFF2-40B4-BE49-F238E27FC236}">
                <a16:creationId xmlns:a16="http://schemas.microsoft.com/office/drawing/2014/main" id="{B57DB282-638B-430A-B02F-30625BF4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nner-heading">
            <a:extLst xmlns:a="http://schemas.openxmlformats.org/drawingml/2006/main">
              <a:ext uri="{FF2B5EF4-FFF2-40B4-BE49-F238E27FC236}">
                <a16:creationId xmlns:a16="http://schemas.microsoft.com/office/drawing/2014/main" id="{8075F6C3-2674-4854-B983-A3818C96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Planner</a:t>
            </a:r>
          </a:p>
        </p:txBody>
      </p:sp>
      <p:sp>
        <p:nvSpPr>
          <p:cNvPr id="8" name="planner-detail">
            <a:extLst xmlns:a="http://schemas.openxmlformats.org/drawingml/2006/main">
              <a:ext uri="{FF2B5EF4-FFF2-40B4-BE49-F238E27FC236}">
                <a16:creationId xmlns:a16="http://schemas.microsoft.com/office/drawing/2014/main" id="{240027AA-895E-4E1B-B86A-EE569390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Qwen／Ollama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規劃怎麼查</a:t>
            </a:r>
          </a:p>
        </p:txBody>
      </p:sp>
      <p:sp>
        <p:nvSpPr>
          <p:cNvPr id="9" name="runner-bg">
            <a:extLst xmlns:a="http://schemas.openxmlformats.org/drawingml/2006/main">
              <a:ext uri="{FF2B5EF4-FFF2-40B4-BE49-F238E27FC236}">
                <a16:creationId xmlns:a16="http://schemas.microsoft.com/office/drawing/2014/main" id="{277DE927-2470-4A17-B62E-B40EA140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38375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nner-heading">
            <a:extLst xmlns:a="http://schemas.openxmlformats.org/drawingml/2006/main">
              <a:ext uri="{FF2B5EF4-FFF2-40B4-BE49-F238E27FC236}">
                <a16:creationId xmlns:a16="http://schemas.microsoft.com/office/drawing/2014/main" id="{0E38101F-1A37-4905-940F-C52E61B4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2887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 Runner</a:t>
            </a:r>
          </a:p>
        </p:txBody>
      </p:sp>
      <p:sp>
        <p:nvSpPr>
          <p:cNvPr id="11" name="runner-detail">
            <a:extLst xmlns:a="http://schemas.openxmlformats.org/drawingml/2006/main">
              <a:ext uri="{FF2B5EF4-FFF2-40B4-BE49-F238E27FC236}">
                <a16:creationId xmlns:a16="http://schemas.microsoft.com/office/drawing/2014/main" id="{E7A2F076-C772-4747-8942-76A1CA4E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000375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Python tools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實際呼叫資料庫</a:t>
            </a:r>
          </a:p>
        </p:txBody>
      </p:sp>
      <p:sp>
        <p:nvSpPr>
          <p:cNvPr id="12" name="validator-bg">
            <a:extLst xmlns:a="http://schemas.openxmlformats.org/drawingml/2006/main">
              <a:ext uri="{FF2B5EF4-FFF2-40B4-BE49-F238E27FC236}">
                <a16:creationId xmlns:a16="http://schemas.microsoft.com/office/drawing/2014/main" id="{3E1B8A7F-8889-42B8-8106-505AEB74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idator-heading">
            <a:extLst xmlns:a="http://schemas.openxmlformats.org/drawingml/2006/main">
              <a:ext uri="{FF2B5EF4-FFF2-40B4-BE49-F238E27FC236}">
                <a16:creationId xmlns:a16="http://schemas.microsoft.com/office/drawing/2014/main" id="{CFE8BAC7-B886-46CD-9AC9-5D8033A6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Validator</a:t>
            </a:r>
          </a:p>
        </p:txBody>
      </p:sp>
      <p:sp>
        <p:nvSpPr>
          <p:cNvPr id="14" name="validator-detail">
            <a:extLst xmlns:a="http://schemas.openxmlformats.org/drawingml/2006/main">
              <a:ext uri="{FF2B5EF4-FFF2-40B4-BE49-F238E27FC236}">
                <a16:creationId xmlns:a16="http://schemas.microsoft.com/office/drawing/2014/main" id="{381D8C34-BC3B-4D51-8005-AF0B19C0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0375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Python validation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檢查 ID 與資料完整性</a:t>
            </a:r>
          </a:p>
        </p:txBody>
      </p:sp>
      <p:sp>
        <p:nvSpPr>
          <p:cNvPr id="15" name="synth-bg">
            <a:extLst xmlns:a="http://schemas.openxmlformats.org/drawingml/2006/main">
              <a:ext uri="{FF2B5EF4-FFF2-40B4-BE49-F238E27FC236}">
                <a16:creationId xmlns:a16="http://schemas.microsoft.com/office/drawing/2014/main" id="{10C3A767-147B-466A-96AD-1DF9E07D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38375"/>
            <a:ext cx="23907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ynth-heading">
            <a:extLst xmlns:a="http://schemas.openxmlformats.org/drawingml/2006/main">
              <a:ext uri="{FF2B5EF4-FFF2-40B4-BE49-F238E27FC236}">
                <a16:creationId xmlns:a16="http://schemas.microsoft.com/office/drawing/2014/main" id="{A0A96F19-7CB4-45D9-9DF9-03EFF190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28875"/>
            <a:ext cx="1971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Synthesizer</a:t>
            </a:r>
          </a:p>
        </p:txBody>
      </p:sp>
      <p:sp>
        <p:nvSpPr>
          <p:cNvPr id="17" name="synth-detail">
            <a:extLst xmlns:a="http://schemas.openxmlformats.org/drawingml/2006/main">
              <a:ext uri="{FF2B5EF4-FFF2-40B4-BE49-F238E27FC236}">
                <a16:creationId xmlns:a16="http://schemas.microsoft.com/office/drawing/2014/main" id="{35332FA2-99BE-4B2C-936F-3C8BE244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00375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Qwen／Ollama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整理與解讀證據</a:t>
            </a:r>
          </a:p>
        </p:txBody>
      </p:sp>
      <p:sp>
        <p:nvSpPr>
          <p:cNvPr id="18" name="roles-claim">
            <a:extLst xmlns:a="http://schemas.openxmlformats.org/drawingml/2006/main">
              <a:ext uri="{FF2B5EF4-FFF2-40B4-BE49-F238E27FC236}">
                <a16:creationId xmlns:a16="http://schemas.microsoft.com/office/drawing/2014/main" id="{3C4E3673-4E96-4459-BDBD-90A51735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LLM 負責判斷與規劃；不能出錯的 ID、查詢與格式交給程式。</a:t>
            </a:r>
          </a:p>
        </p:txBody>
      </p:sp>
    </p:spTree>
    <p:extLst>
      <p:ext uri="{BB962C8B-B14F-4D97-AF65-F5344CB8AC3E}">
        <p14:creationId xmlns:p14="http://schemas.microsoft.com/office/powerpoint/2010/main" val="10522669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8">
            <a:extLst xmlns:a="http://schemas.openxmlformats.org/drawingml/2006/main">
              <a:ext uri="{FF2B5EF4-FFF2-40B4-BE49-F238E27FC236}">
                <a16:creationId xmlns:a16="http://schemas.microsoft.com/office/drawing/2014/main" id="{E872517F-3727-4ECB-9A02-5F216773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前半段：Qwen 規劃，但只有工具能取得資料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D39EFAE9-2895-48BC-B3EF-389FA586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planner-detail-bg">
            <a:extLst xmlns:a="http://schemas.openxmlformats.org/drawingml/2006/main">
              <a:ext uri="{FF2B5EF4-FFF2-40B4-BE49-F238E27FC236}">
                <a16:creationId xmlns:a16="http://schemas.microsoft.com/office/drawing/2014/main" id="{5367A592-F401-4DA9-8F95-04DE9596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334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lanner-detail-heading">
            <a:extLst xmlns:a="http://schemas.openxmlformats.org/drawingml/2006/main">
              <a:ext uri="{FF2B5EF4-FFF2-40B4-BE49-F238E27FC236}">
                <a16:creationId xmlns:a16="http://schemas.microsoft.com/office/drawing/2014/main" id="{E3FB9F77-B298-4043-BB7F-51AC7B8E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Planner｜Qwen</a:t>
            </a:r>
          </a:p>
        </p:txBody>
      </p:sp>
      <p:sp>
        <p:nvSpPr>
          <p:cNvPr id="5" name="planner-detail-detail">
            <a:extLst xmlns:a="http://schemas.openxmlformats.org/drawingml/2006/main">
              <a:ext uri="{FF2B5EF4-FFF2-40B4-BE49-F238E27FC236}">
                <a16:creationId xmlns:a16="http://schemas.microsoft.com/office/drawing/2014/main" id="{67ED2354-DC6F-44D0-8161-BCA0C458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149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負責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研究問題與查詢目的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四個來源的關鍵字、參數、順序與理由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預期資料缺口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不能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直接查資料庫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自行決定 Disease／Target ID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在查詢前宣稱關聯成立</a:t>
            </a:r>
          </a:p>
        </p:txBody>
      </p:sp>
      <p:sp>
        <p:nvSpPr>
          <p:cNvPr id="6" name="runner-detail-bg">
            <a:extLst xmlns:a="http://schemas.openxmlformats.org/drawingml/2006/main">
              <a:ext uri="{FF2B5EF4-FFF2-40B4-BE49-F238E27FC236}">
                <a16:creationId xmlns:a16="http://schemas.microsoft.com/office/drawing/2014/main" id="{0D7CE80E-CD7F-49C9-BCCA-4B38C981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33500"/>
            <a:ext cx="5334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nner-detail-heading">
            <a:extLst xmlns:a="http://schemas.openxmlformats.org/drawingml/2006/main">
              <a:ext uri="{FF2B5EF4-FFF2-40B4-BE49-F238E27FC236}">
                <a16:creationId xmlns:a16="http://schemas.microsoft.com/office/drawing/2014/main" id="{FD1310A4-2332-44FF-86B6-CCCFDF24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 Runner｜Python</a:t>
            </a:r>
          </a:p>
        </p:txBody>
      </p:sp>
      <p:sp>
        <p:nvSpPr>
          <p:cNvPr id="8" name="runner-detail-detail">
            <a:extLst xmlns:a="http://schemas.openxmlformats.org/drawingml/2006/main">
              <a:ext uri="{FF2B5EF4-FFF2-40B4-BE49-F238E27FC236}">
                <a16:creationId xmlns:a16="http://schemas.microsoft.com/office/drawing/2014/main" id="{6F49294F-DB67-47B5-B180-99E21842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9149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負責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執行通過驗證的 Research Plan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保存原始回傳、參數、時間與錯誤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只使用已註冊工具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目前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Open Targets 有部分查詢能力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其餘三個正式工具尚未完成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Collection Policy 未定時不大量下載</a:t>
            </a:r>
          </a:p>
        </p:txBody>
      </p:sp>
    </p:spTree>
    <p:extLst>
      <p:ext uri="{BB962C8B-B14F-4D97-AF65-F5344CB8AC3E}">
        <p14:creationId xmlns:p14="http://schemas.microsoft.com/office/powerpoint/2010/main" val="1027717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9">
            <a:extLst xmlns:a="http://schemas.openxmlformats.org/drawingml/2006/main">
              <a:ext uri="{FF2B5EF4-FFF2-40B4-BE49-F238E27FC236}">
                <a16:creationId xmlns:a16="http://schemas.microsoft.com/office/drawing/2014/main" id="{02D812BB-D609-4955-A11A-F778E1FA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後半段：程式保護事實，Qwen 才能解讀證據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A9556BC4-15E9-431B-9FDF-FC81AB5B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validator-detail-bg">
            <a:extLst xmlns:a="http://schemas.openxmlformats.org/drawingml/2006/main">
              <a:ext uri="{FF2B5EF4-FFF2-40B4-BE49-F238E27FC236}">
                <a16:creationId xmlns:a16="http://schemas.microsoft.com/office/drawing/2014/main" id="{D282E511-4E5D-4308-8A62-179E39A0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334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alidator-detail-heading">
            <a:extLst xmlns:a="http://schemas.openxmlformats.org/drawingml/2006/main">
              <a:ext uri="{FF2B5EF4-FFF2-40B4-BE49-F238E27FC236}">
                <a16:creationId xmlns:a16="http://schemas.microsoft.com/office/drawing/2014/main" id="{E1E06520-442A-4FE4-BD5B-DA3A44FF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Validator｜Python</a:t>
            </a:r>
          </a:p>
        </p:txBody>
      </p:sp>
      <p:sp>
        <p:nvSpPr>
          <p:cNvPr id="5" name="validator-detail-detail">
            <a:extLst xmlns:a="http://schemas.openxmlformats.org/drawingml/2006/main">
              <a:ext uri="{FF2B5EF4-FFF2-40B4-BE49-F238E27FC236}">
                <a16:creationId xmlns:a16="http://schemas.microsoft.com/office/drawing/2014/main" id="{7AA344E9-1765-46F1-9627-8DFADB45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149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負責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驗證 Disease／Target ID 與必要來源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檢查 schema、分頁、截斷與錯誤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防止 Qwen 修改已驗證資訊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本週修正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疾病有歧義時停止並列候選 ID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KRAS symbol 與 Ensembl ID 由 Python 強制保留</a:t>
            </a:r>
          </a:p>
        </p:txBody>
      </p:sp>
      <p:sp>
        <p:nvSpPr>
          <p:cNvPr id="6" name="synth-detail-bg">
            <a:extLst xmlns:a="http://schemas.openxmlformats.org/drawingml/2006/main">
              <a:ext uri="{FF2B5EF4-FFF2-40B4-BE49-F238E27FC236}">
                <a16:creationId xmlns:a16="http://schemas.microsoft.com/office/drawing/2014/main" id="{D4C08901-D6C4-4049-81F1-84756A20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33500"/>
            <a:ext cx="5334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ynth-detail-heading">
            <a:extLst xmlns:a="http://schemas.openxmlformats.org/drawingml/2006/main">
              <a:ext uri="{FF2B5EF4-FFF2-40B4-BE49-F238E27FC236}">
                <a16:creationId xmlns:a16="http://schemas.microsoft.com/office/drawing/2014/main" id="{EAFE3E83-3C99-4F2E-9943-0B6A2AFB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Synthesizer｜Qwen</a:t>
            </a:r>
          </a:p>
        </p:txBody>
      </p:sp>
      <p:sp>
        <p:nvSpPr>
          <p:cNvPr id="8" name="synth-detail-detail">
            <a:extLst xmlns:a="http://schemas.openxmlformats.org/drawingml/2006/main">
              <a:ext uri="{FF2B5EF4-FFF2-40B4-BE49-F238E27FC236}">
                <a16:creationId xmlns:a16="http://schemas.microsoft.com/office/drawing/2014/main" id="{CCCCB01C-3ECC-4989-AABA-8F77D8E2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9149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負責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只閱讀已查回且驗證通過的證據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區分資料庫事實與模型解讀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分析支持、衝突與資料缺口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必要時提出一次追加查詢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不能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修改原始分數或 evidence records</a:t>
            </a:r>
          </a:p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把 Open Targets 分數當成成功率</a:t>
            </a:r>
          </a:p>
        </p:txBody>
      </p:sp>
    </p:spTree>
    <p:extLst>
      <p:ext uri="{BB962C8B-B14F-4D97-AF65-F5344CB8AC3E}">
        <p14:creationId xmlns:p14="http://schemas.microsoft.com/office/powerpoint/2010/main" val="529835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2026-08-16T13:35:16.7780000Z</dcterms:created>
  <dcterms:modified xsi:type="dcterms:W3CDTF">2026-08-16T13:35:16.7780000Z</dcterms:modified>
</coreProperties>
</file>