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d97accf09b4aa9" /><Relationship Type="http://schemas.openxmlformats.org/officeDocument/2006/relationships/extended-properties" Target="/docProps/app.xml" Id="R40970b2979694df9" /><Relationship Type="http://schemas.openxmlformats.org/officeDocument/2006/relationships/officeDocument" Target="/ppt/presentation.xml" Id="Re589f4eb39e74b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2598faf981458f"/>
  </p:sldMasterIdLst>
  <p:notesMasterIdLst>
    <p:notesMasterId xmlns:r="http://schemas.openxmlformats.org/officeDocument/2006/relationships" r:id="Rdabee3a6cda44e77"/>
  </p:notesMasterIdLst>
  <p:sldIdLst>
    <p:sldId xmlns:r="http://schemas.openxmlformats.org/officeDocument/2006/relationships" id="256" r:id="R690a910447ab4789"/>
    <p:sldId xmlns:r="http://schemas.openxmlformats.org/officeDocument/2006/relationships" id="257" r:id="Ra6daa24a78c64277"/>
    <p:sldId xmlns:r="http://schemas.openxmlformats.org/officeDocument/2006/relationships" id="258" r:id="R2dde8117d5f748b5"/>
    <p:sldId xmlns:r="http://schemas.openxmlformats.org/officeDocument/2006/relationships" id="259" r:id="R647da3a7c93d4e4e"/>
    <p:sldId xmlns:r="http://schemas.openxmlformats.org/officeDocument/2006/relationships" id="260" r:id="R4dc09cd8df644c22"/>
    <p:sldId xmlns:r="http://schemas.openxmlformats.org/officeDocument/2006/relationships" id="261" r:id="R46fe0fdf537d4460"/>
    <p:sldId xmlns:r="http://schemas.openxmlformats.org/officeDocument/2006/relationships" id="262" r:id="R3562fca756fd486c"/>
    <p:sldId xmlns:r="http://schemas.openxmlformats.org/officeDocument/2006/relationships" id="263" r:id="Redac9083e54b49ac"/>
    <p:sldId xmlns:r="http://schemas.openxmlformats.org/officeDocument/2006/relationships" id="264" r:id="R0dbf6003537f4ac6"/>
    <p:sldId xmlns:r="http://schemas.openxmlformats.org/officeDocument/2006/relationships" id="265" r:id="R5e5be0fd792f4e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e3d6e5f80049f1" /><Relationship Type="http://schemas.openxmlformats.org/officeDocument/2006/relationships/slideMaster" Target="/ppt/slideMasters/slideMaster1.xml" Id="R9b2598faf981458f" /><Relationship Type="http://schemas.openxmlformats.org/officeDocument/2006/relationships/notesMaster" Target="/ppt/notesMasters/notesMaster1.xml" Id="Rdabee3a6cda44e77" /><Relationship Type="http://schemas.openxmlformats.org/officeDocument/2006/relationships/presProps" Target="/ppt/presProps.xml" Id="R2aedf617f7134c41" /><Relationship Type="http://schemas.openxmlformats.org/officeDocument/2006/relationships/tableStyles" Target="/ppt/tableStyles.xml" Id="R45ae1827d0524e4d" /><Relationship Type="http://schemas.openxmlformats.org/officeDocument/2006/relationships/slide" Target="/ppt/slides/slide1.xml" Id="R690a910447ab4789" /><Relationship Type="http://schemas.openxmlformats.org/officeDocument/2006/relationships/slide" Target="/ppt/slides/slide2.xml" Id="Ra6daa24a78c64277" /><Relationship Type="http://schemas.openxmlformats.org/officeDocument/2006/relationships/slide" Target="/ppt/slides/slide3.xml" Id="R2dde8117d5f748b5" /><Relationship Type="http://schemas.openxmlformats.org/officeDocument/2006/relationships/slide" Target="/ppt/slides/slide4.xml" Id="R647da3a7c93d4e4e" /><Relationship Type="http://schemas.openxmlformats.org/officeDocument/2006/relationships/slide" Target="/ppt/slides/slide5.xml" Id="R4dc09cd8df644c22" /><Relationship Type="http://schemas.openxmlformats.org/officeDocument/2006/relationships/slide" Target="/ppt/slides/slide6.xml" Id="R46fe0fdf537d4460" /><Relationship Type="http://schemas.openxmlformats.org/officeDocument/2006/relationships/slide" Target="/ppt/slides/slide7.xml" Id="R3562fca756fd486c" /><Relationship Type="http://schemas.openxmlformats.org/officeDocument/2006/relationships/slide" Target="/ppt/slides/slide8.xml" Id="Redac9083e54b49ac" /><Relationship Type="http://schemas.openxmlformats.org/officeDocument/2006/relationships/slide" Target="/ppt/slides/slide9.xml" Id="R0dbf6003537f4ac6" /><Relationship Type="http://schemas.openxmlformats.org/officeDocument/2006/relationships/slide" Target="/ppt/slides/slide10.xml" Id="R5e5be0fd792f4e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bcd00e1fe641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be67438aeb4234" /><Relationship Type="http://schemas.openxmlformats.org/officeDocument/2006/relationships/notesMaster" Target="/ppt/notesMasters/notesMaster1.xml" Id="Rc3348de5508e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6e404bf5b248ee" /><Relationship Type="http://schemas.openxmlformats.org/officeDocument/2006/relationships/notesMaster" Target="/ppt/notesMasters/notesMaster1.xml" Id="Raa37d8be8281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bf1fc059c452d" /><Relationship Type="http://schemas.openxmlformats.org/officeDocument/2006/relationships/notesMaster" Target="/ppt/notesMasters/notesMaster1.xml" Id="R32c0bee9e882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4c2ebf27c741f4" /><Relationship Type="http://schemas.openxmlformats.org/officeDocument/2006/relationships/notesMaster" Target="/ppt/notesMasters/notesMaster1.xml" Id="R6ab4c3be8ba9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7b1bf16cde4239" /><Relationship Type="http://schemas.openxmlformats.org/officeDocument/2006/relationships/notesMaster" Target="/ppt/notesMasters/notesMaster1.xml" Id="R7a0c55c5b3ca4b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f330d6f1614f67" /><Relationship Type="http://schemas.openxmlformats.org/officeDocument/2006/relationships/notesMaster" Target="/ppt/notesMasters/notesMaster1.xml" Id="Rf7a16f4e98ed40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883244184c453f" /><Relationship Type="http://schemas.openxmlformats.org/officeDocument/2006/relationships/notesMaster" Target="/ppt/notesMasters/notesMaster1.xml" Id="Re61f10ca8a2c42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988586c3e7416b" /><Relationship Type="http://schemas.openxmlformats.org/officeDocument/2006/relationships/notesMaster" Target="/ppt/notesMasters/notesMaster1.xml" Id="Racd79839931b40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5eb0aa2bc24527" /><Relationship Type="http://schemas.openxmlformats.org/officeDocument/2006/relationships/notesMaster" Target="/ppt/notesMasters/notesMaster1.xml" Id="R67a9e1b424744a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4cbf20311544b3" /><Relationship Type="http://schemas.openxmlformats.org/officeDocument/2006/relationships/notesMaster" Target="/ppt/notesMasters/notesMaster1.xml" Id="R8edb33dab87d4d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outputs/plans/pdac_known_targets_layered_v3.report.json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PROJECT_STATUS.md（2026-08-30 專案狀態）</a:t>
            </a:r>
          </a:p>
          <a:p xmlns:a="http://schemas.openxmlformats.org/drawingml/2006/main">
            <a:r>
              <a:t>- PLANNER_CAPABILITY_MATRIX_V1.md</a:t>
            </a:r>
          </a:p>
          <a:p xmlns:a="http://schemas.openxmlformats.org/drawingml/2006/main">
            <a:r>
              <a:t>- outputs/plans 內本週盲測報告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PROJECT_STATUS.md（本週測試結果與目前範圍）</a:t>
            </a:r>
          </a:p>
          <a:p xmlns:a="http://schemas.openxmlformats.org/drawingml/2006/main">
            <a:r>
              <a:t>- 本頁為依本週成果整理之團隊決策建議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7c2d232cd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21007cac644d92" /><Relationship Type="http://schemas.openxmlformats.org/officeDocument/2006/relationships/slideLayout" Target="/ppt/slideLayouts/slideLayout1.xml" Id="Raf82af405e1c41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82af405e1c41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668ea06b24249" /><Relationship Type="http://schemas.openxmlformats.org/officeDocument/2006/relationships/notesSlide" Target="/ppt/notesSlides/notesSlide1.xml" Id="R5d4a7d5cc4e1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fe55617eb4a7d" /><Relationship Type="http://schemas.openxmlformats.org/officeDocument/2006/relationships/notesSlide" Target="/ppt/notesSlides/notesSlide2.xml" Id="R78b7fc06bcd843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fd07b2f974e89" /><Relationship Type="http://schemas.openxmlformats.org/officeDocument/2006/relationships/notesSlide" Target="/ppt/notesSlides/notesSlide3.xml" Id="Re4d2ec4149c54d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9f77fae5f4f11" /><Relationship Type="http://schemas.openxmlformats.org/officeDocument/2006/relationships/notesSlide" Target="/ppt/notesSlides/notesSlide4.xml" Id="Rdddc4c82460b4e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8b6d83a30411b" /><Relationship Type="http://schemas.openxmlformats.org/officeDocument/2006/relationships/notesSlide" Target="/ppt/notesSlides/notesSlide5.xml" Id="Rb1bca65e4a6f4d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55207bc8450f" /><Relationship Type="http://schemas.openxmlformats.org/officeDocument/2006/relationships/notesSlide" Target="/ppt/notesSlides/notesSlide6.xml" Id="Rad7e0de3e3b2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c8fb801124955" /><Relationship Type="http://schemas.openxmlformats.org/officeDocument/2006/relationships/notesSlide" Target="/ppt/notesSlides/notesSlide7.xml" Id="R500541ccb3dc48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0e655ed7b42c2" /><Relationship Type="http://schemas.openxmlformats.org/officeDocument/2006/relationships/notesSlide" Target="/ppt/notesSlides/notesSlide8.xml" Id="R00b1fdbeac624e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0eef42faa40fc" /><Relationship Type="http://schemas.openxmlformats.org/officeDocument/2006/relationships/notesSlide" Target="/ppt/notesSlides/notesSlide9.xml" Id="Rc8488d42f2134c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068009d904579" /><Relationship Type="http://schemas.openxmlformats.org/officeDocument/2006/relationships/notesSlide" Target="/ppt/notesSlides/notesSlide10.xml" Id="R41bfb4ecd1d048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4A5E3-88EE-496A-BB67-9C3D4D5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270BFFD-C35B-443B-BE6D-0405FCFC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E875DD-2897-4642-8EA3-DE1D2164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自然語言輸入後，Plan 從穩定變成不完整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98CEE5C-CBDD-4BE8-9625-1B326DF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FD17B77-F81E-4D42-ABE5-78824041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4B08B27C-F768-4204-800C-7E4F821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原本直接指定 disease–target 時，系統能先完成實體確認，再產生可驗證的研究計畫；改成完整自然語言問題後，模型必須自行拆解研究意圖，開始遺漏必要步驟。</a:t>
            </a:r>
          </a:p>
        </p:txBody>
      </p:sp>
      <p:sp>
        <p:nvSpPr>
          <p:cNvPr id="7" name="left">
            <a:extLst xmlns:a="http://schemas.openxmlformats.org/drawingml/2006/main">
              <a:ext uri="{FF2B5EF4-FFF2-40B4-BE49-F238E27FC236}">
                <a16:creationId xmlns:a16="http://schemas.microsoft.com/office/drawing/2014/main" id="{507E40F1-BFA5-4AD0-87CF-29BB7C2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4762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AE8"/>
            </a:solidFill>
            <a:prstDash val="solid"/>
          </a:ln>
        </p:spPr>
      </p:sp>
      <p:sp>
        <p:nvSpPr>
          <p:cNvPr id="8" name="left-h">
            <a:extLst xmlns:a="http://schemas.openxmlformats.org/drawingml/2006/main">
              <a:ext uri="{FF2B5EF4-FFF2-40B4-BE49-F238E27FC236}">
                <a16:creationId xmlns:a16="http://schemas.microsoft.com/office/drawing/2014/main" id="{5B18C6F0-08AF-41E2-9D8F-DC2CC8C2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856D"/>
                </a:solidFill>
              </a:defRPr>
            </a:pPr>
            <a:r>
              <a:rPr sz="1950" b="1">
                <a:solidFill>
                  <a:srgbClr val="23856D"/>
                </a:solidFill>
              </a:rPr>
              <a:t>原本：指定 disease–target</a:t>
            </a:r>
          </a:p>
        </p:txBody>
      </p:sp>
      <p:sp>
        <p:nvSpPr>
          <p:cNvPr id="9" name="left-b">
            <a:extLst xmlns:a="http://schemas.openxmlformats.org/drawingml/2006/main">
              <a:ext uri="{FF2B5EF4-FFF2-40B4-BE49-F238E27FC236}">
                <a16:creationId xmlns:a16="http://schemas.microsoft.com/office/drawing/2014/main" id="{D7070607-92D1-4E49-96E9-EAD9E472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疾病與標靶先由確定性流程解析</a:t>
            </a:r>
          </a:p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ID 與查詢範圍明確</a:t>
            </a:r>
          </a:p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Planner 專注安排資料來源與步驟</a:t>
            </a:r>
          </a:p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Plan 可成功通過結構檢查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52A532A6-AA60-43DA-A09D-4D611BFA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666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BE45D833-C628-4290-B78B-7108FB86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762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0D4A5"/>
            </a:solidFill>
            <a:prstDash val="solid"/>
          </a:ln>
        </p:spPr>
      </p:sp>
      <p:sp>
        <p:nvSpPr>
          <p:cNvPr id="12" name="right-h">
            <a:extLst xmlns:a="http://schemas.openxmlformats.org/drawingml/2006/main">
              <a:ext uri="{FF2B5EF4-FFF2-40B4-BE49-F238E27FC236}">
                <a16:creationId xmlns:a16="http://schemas.microsoft.com/office/drawing/2014/main" id="{72764EB0-B200-4782-956D-935A14A2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9B22"/>
                </a:solidFill>
              </a:defRPr>
            </a:pPr>
            <a:r>
              <a:rPr sz="1950" b="1">
                <a:solidFill>
                  <a:srgbClr val="E69B22"/>
                </a:solidFill>
              </a:rPr>
              <a:t>現在：輸入自然語言問題</a:t>
            </a:r>
          </a:p>
        </p:txBody>
      </p:sp>
      <p:sp>
        <p:nvSpPr>
          <p:cNvPr id="13" name="right-b">
            <a:extLst xmlns:a="http://schemas.openxmlformats.org/drawingml/2006/main">
              <a:ext uri="{FF2B5EF4-FFF2-40B4-BE49-F238E27FC236}">
                <a16:creationId xmlns:a16="http://schemas.microsoft.com/office/drawing/2014/main" id="{003F9F0B-EB5D-42F5-B03C-AE08F5C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模型需自行辨識實體與研究意圖</a:t>
            </a:r>
          </a:p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容易漏掉藥物證據、tractability 與排名</a:t>
            </a:r>
          </a:p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步驟相依與 safeguards 不完整</a:t>
            </a:r>
          </a:p>
          <a:p xmlns:a="http://schemas.openxmlformats.org/drawingml/2006/main">
            <a:pPr algn="l">
              <a:defRPr sz="1575" b="0">
                <a:solidFill>
                  <a:srgbClr val="162033"/>
                </a:solidFill>
              </a:defRPr>
            </a:pPr>
            <a:r>
              <a:rPr sz="1575" b="0">
                <a:solidFill>
                  <a:srgbClr val="162033"/>
                </a:solidFill>
              </a:rPr>
              <a:t>• 修復階段也可能逾時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2115A73B-499F-40A9-B6C8-8C68B23A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本週重點：不是重新做資料檢索，而是把自然語言 Plan 的缺漏變成可辨識、可修復、可追蹤的問題。</a:t>
            </a:r>
          </a:p>
        </p:txBody>
      </p:sp>
    </p:spTree>
    <p:extLst>
      <p:ext uri="{BB962C8B-B14F-4D97-AF65-F5344CB8AC3E}">
        <p14:creationId xmlns:p14="http://schemas.microsoft.com/office/powerpoint/2010/main" val="1192782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2A831093-E298-4965-A6F9-929E853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D9F17A4-B470-4E95-948B-80CB2F1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0B1B06-A344-470D-9D01-5BF96A60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建立自然語言研究問題入口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A4597D4-2BA1-45F1-A59C-2E964F42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0F9660-A0C8-455B-8DE5-998D9DEC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4EA051AD-0837-40CF-8077-53B7B74B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8B74F971-58AD-4D91-9738-1632313C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1993B184-E7C8-4113-B5A2-E3B22A5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完成 plan-query：使用者可直接輸入完整問題，由本機模型產生包含實體、步驟、相依關係、來源、篩選、排名與 safeguards 的結構化 Plan。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09A56929-7AC8-47C9-95BA-7BC29BF8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47CCF8A7-B435-41E1-9DB8-79A5079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2EA08F57-83DB-496D-ADF8-3CAD388B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模型會自行填入未驗證 ID，甚至把描述文字放進識別碼欄位，使 Plan 看似完整但身分資訊不可靠。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F8D31D71-A24C-4DDB-8DF6-DEB2D9D3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5F3DB39D-C6AE-4C70-A6DA-F04DBC93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E0BC4B3B-2987-4C5D-8569-025B197B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規劃階段不讓模型擁有身分認定權；未驗證實體一律標示 unresolved，模型自填的 ID 與 canonical name 由 Python 清除。</a:t>
            </a:r>
          </a:p>
        </p:txBody>
      </p:sp>
    </p:spTree>
    <p:extLst>
      <p:ext uri="{BB962C8B-B14F-4D97-AF65-F5344CB8AC3E}">
        <p14:creationId xmlns:p14="http://schemas.microsoft.com/office/powerpoint/2010/main" val="530622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BCC8EF2F-D436-48D2-A4A7-8C711B1A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2D4A60F-11F1-4877-BDA6-BB8D5F7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E3E453-F16D-4675-A9A9-A3B5CD2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18 題驗收從分類表改成能力矩陣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1F594E9-3EEE-4F54-B124-025B55E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9D6CCC9-D7BD-48A5-8EB6-94C3DBF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F005A21D-C461-4861-87BC-D6F45F8E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1566317C-FA0D-4872-9838-A8C46CC9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C14926FE-A79C-4F41-B826-6E2D6BC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將研究團隊的 18 個自然語言問題建成 Plan-only 驗收案例，分為 12 個 development 與 6 個 internal holdout。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C5234C43-B708-47F7-9AA2-3D842433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384B959A-BFF8-4AA2-8BD8-EEE3F7E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C576B6A7-618F-4DA9-9EC5-046FD313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原本六種查詢類型只能描述問題外觀，無法表示疾病解析、標靶探索、藥物交叉比對、排名與負面證據等實際能力。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DB625160-06F5-4465-98AC-1860793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DD237E7C-ECE1-4117-BAEC-9734BED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2ED85A71-BBFB-4691-8F27-A8D877F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採用 Planner Capability Matrix，依每題必要研究路徑、來源、篩選、排名、彙整與 safeguards 進行驗收。</a:t>
            </a:r>
          </a:p>
        </p:txBody>
      </p:sp>
    </p:spTree>
    <p:extLst>
      <p:ext uri="{BB962C8B-B14F-4D97-AF65-F5344CB8AC3E}">
        <p14:creationId xmlns:p14="http://schemas.microsoft.com/office/powerpoint/2010/main" val="2146434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2B9EF8B8-C87D-4392-9D09-61E23CF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59D83FD-E355-466D-9319-C5BF41F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D93E66-E321-4949-AFCC-505F6348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盲測能找出缺漏，也能避免把答案餵給模型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31A41EE-3E5E-49BB-9129-1ABDC24E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C2BAD56-7F34-4D6E-9C3F-5C0EDF8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39AC7C73-393D-4032-9A58-76F992A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6537D795-E590-48D6-A4B4-8151B9E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4F1514B5-0A79-490B-9654-3C40ED0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第一次規劃只提供使用者問題與通用規則；失敗後只回傳該次 Plan 的具體缺項，最多進行兩次修復。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0987CC79-C91D-4EBA-8BAC-9C1ABD0E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5685582F-B343-42CE-8234-2BC25426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1A9A9BA2-0D40-4498-9DD8-BBAA0A5D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模型補新步驟時可能刪掉已通過能力；早期報告也沒有保存被拒絕的候選 Plan，難以判斷真正失敗原因。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26C49B17-6A69-49E1-B654-E6203E3B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AA56DC5F-7190-45B5-BB1F-2EF51BA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DA0821D2-F2C2-4571-9A0C-5F9E8B3A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修復回饋加入 preserve list；每次保存候選 Plan、原始輸出、實際與未辨識操作名稱，並檢查能力是否退步。</a:t>
            </a:r>
          </a:p>
        </p:txBody>
      </p:sp>
    </p:spTree>
    <p:extLst>
      <p:ext uri="{BB962C8B-B14F-4D97-AF65-F5344CB8AC3E}">
        <p14:creationId xmlns:p14="http://schemas.microsoft.com/office/powerpoint/2010/main" val="596516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A0770848-C1CA-4317-A965-84E659C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CF7EEF1-77AF-472F-8329-7689B4C3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110EC9-AA06-419E-B6F8-D0632CA1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部分失敗其實來自驗收表示方式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81825E4-9801-4900-B4A1-A42B0B6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FDF26-7B3E-40FF-BF84-B0D6309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05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46772BF1-E0B6-4E86-8BCD-3D6CEC49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1018A468-9B73-445E-B67D-DB5FE62E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818B29DE-F8A3-4EB6-8866-347BD162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利用 blind_v2 保存的候選 Plan，確認模型已規劃疾病解析、標靶搜尋、排名、相依關係與 safeguards。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D25D2250-B518-4E6F-A516-5A03F72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FC75FA15-0EE7-41DE-BB07-041B524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92358A1D-07D9-4123-ACE7-0ED96F0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discover_targets_per_disease 與 discover_targets 語意相同卻未被視為等價；overall_association_score 放在 sort_by 的值中也未被辨識。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BC64EFE4-45EC-427F-9CCC-D079459A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4AA0C7BE-2257-4E08-B2B2-724AADB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C88CB306-A272-449F-B0D0-5F2AA3C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建立人工審查過的操作等價表，並讓排名驗收辨識 sort_by、rank_by、order_by 等合法表示；離線重播後可通過。</a:t>
            </a:r>
          </a:p>
        </p:txBody>
      </p:sp>
    </p:spTree>
    <p:extLst>
      <p:ext uri="{BB962C8B-B14F-4D97-AF65-F5344CB8AC3E}">
        <p14:creationId xmlns:p14="http://schemas.microsoft.com/office/powerpoint/2010/main" val="1692760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47CC777F-6BDE-4AB0-82FB-0A2DDC7A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6DC8565-2B4D-42B9-9BBE-B585A37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5AF250-B464-4D48-858A-4E86B7D6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模型逾時不再讓整次實驗結果消失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73453A5-1C42-4E58-8A81-25E56FF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4C02B9-971D-4ECB-B86B-C9ACC11E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06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95130559-2400-44DB-90CC-1B90C1EE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C5BD2DAD-0875-414C-A334-79EF59A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0746E09E-C70B-4F37-8948-811EC1C5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針對 blind_v3 超過 40 分鐘仍未結束的情況，建立模型逾時及逐次 checkpoint。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34532C08-C352-4640-B3DC-0595BF8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294B1FB3-60B6-4578-BD94-38B7F689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874217C1-A731-497D-B877-15837E1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Ollama 長時間停在 Stopping 狀態；後續嘗試一旦卡住，前面已完成的候選 Plan 也可能未被寫入。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747DE907-FB24-4575-8614-6C059F07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928D2086-9498-49CA-9653-19AEE6F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AB94EE41-E17A-485A-8300-BC14BE6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每次模型嘗試上限 720 秒、每題總上限 1800 秒；每次嘗試完成立即更新 report，且逾時時不啟動資料檢索。</a:t>
            </a:r>
          </a:p>
        </p:txBody>
      </p:sp>
    </p:spTree>
    <p:extLst>
      <p:ext uri="{BB962C8B-B14F-4D97-AF65-F5344CB8AC3E}">
        <p14:creationId xmlns:p14="http://schemas.microsoft.com/office/powerpoint/2010/main" val="1563728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234D284B-FD11-41A9-A191-FC60E252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62C26F3-43CA-4AD5-A034-D513EC17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7AF068-8AEB-4EFD-A6D9-A7220326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blind_v4 首次完成端到端盲測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DA717E1-7984-45E3-9F57-F255D28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A60E0E6-A4F2-464C-A2D3-3E9C4262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07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56A921B2-4EE4-4990-9B36-5E008F3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26656E37-A846-4C93-87AB-4A68C0F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0E9C2361-0BEB-49E1-BCDA-253891BB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第一次嘗試保留疾病解析與標靶探索；第二次修復補上 rank_targets、相依關係與 safeguards，最終通過全部隱藏條件。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394FFADD-E34F-423E-9D5D-124DA64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04AB6D9B-88C9-4E98-A8DB-D6B8FEB8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A37D596A-D4F4-45A6-A579-8FB0D2A8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模型仍無法穩定一次產生完整研究 Plan，需要診斷回饋才能補齊研究步驟。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D899D431-76D6-41FF-9331-A0AD457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D9AABCDF-FC64-4B04-9733-69B9D6D3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1105BAE2-1B3A-4554-A44E-F5EE6A03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保留「第一次盲測＋最多兩次修復」機制；修復只能看到自身缺項，不會取得完整標準答案，且全程維持零資料檢索。</a:t>
            </a:r>
          </a:p>
        </p:txBody>
      </p:sp>
    </p:spTree>
    <p:extLst>
      <p:ext uri="{BB962C8B-B14F-4D97-AF65-F5344CB8AC3E}">
        <p14:creationId xmlns:p14="http://schemas.microsoft.com/office/powerpoint/2010/main" val="272246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12C44E1A-8A3A-4843-9C43-16F4A73C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52A1D2F-8DC9-42B2-AB17-6DCD85C9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DFE614-C37C-46CD-AC9E-D8DD4389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排名格式正式統一，避免概念正確卻驗收失敗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C11FE4B-8240-46F6-BB68-582853F3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DD954D-4C8D-4FB8-BB21-53905EF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08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43A94416-F7A2-4685-B531-E6C2B693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FDBD8A3E-78D9-41CA-89D7-CBEEDA9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44F72EAA-ED07-4975-9C08-FD59D28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8/29 三次穩定性測試均正常完成，並確認模型確實能補上排名概念與 overall_association_score。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C5BFA4C6-05AD-42A4-945D-26B19E84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C980A95F-8CE1-4659-A7B4-EF538AAF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E8DEF80C-40A7-408D-943F-04AE484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模型交替使用 ranking.criteria、ranking.sort 等格式，導致 Planner 輸出與驗收程式無法穩定對接。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7BA710DE-D9B7-4853-938A-07D1455E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651A09BA-8DD8-4419-8D0F-6F1AFDA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0F1804F4-671B-41D7-8CF2-13A1E7D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排名契約統一為 primary_metric、direction、secondary_metrics；合法舊格式可正規化，語意模糊的 criteria 必須修復。</a:t>
            </a:r>
          </a:p>
        </p:txBody>
      </p:sp>
    </p:spTree>
    <p:extLst>
      <p:ext uri="{BB962C8B-B14F-4D97-AF65-F5344CB8AC3E}">
        <p14:creationId xmlns:p14="http://schemas.microsoft.com/office/powerpoint/2010/main" val="2087094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F26B0B-4D59-48F6-9CED-E111F4A6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ECDB6E9-0C51-4370-B8F6-0AA1172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4246BA-9824-4341-94BC-9DC274C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治療標的改以兩層證據呈現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0B923F2-55C6-4493-B138-27C3FD2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63D952-CCC5-4156-8631-94BEB63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09</a:t>
            </a:r>
          </a:p>
        </p:txBody>
      </p:sp>
      <p:sp>
        <p:nvSpPr>
          <p:cNvPr id="6" name="bar-190">
            <a:extLst xmlns:a="http://schemas.openxmlformats.org/drawingml/2006/main">
              <a:ext uri="{FF2B5EF4-FFF2-40B4-BE49-F238E27FC236}">
                <a16:creationId xmlns:a16="http://schemas.microsoft.com/office/drawing/2014/main" id="{30D34649-CA4F-4D00-BF34-5C658952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90">
            <a:extLst xmlns:a="http://schemas.openxmlformats.org/drawingml/2006/main">
              <a:ext uri="{FF2B5EF4-FFF2-40B4-BE49-F238E27FC236}">
                <a16:creationId xmlns:a16="http://schemas.microsoft.com/office/drawing/2014/main" id="{665CDE66-845F-4493-82B7-6302538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56D"/>
                </a:solidFill>
              </a:defRPr>
            </a:pPr>
            <a:r>
              <a:rPr sz="1800" b="1">
                <a:solidFill>
                  <a:srgbClr val="23856D"/>
                </a:solidFill>
              </a:rPr>
              <a:t>完成的事情</a:t>
            </a:r>
          </a:p>
        </p:txBody>
      </p:sp>
      <p:sp>
        <p:nvSpPr>
          <p:cNvPr id="8" name="body-190">
            <a:extLst xmlns:a="http://schemas.openxmlformats.org/drawingml/2006/main">
              <a:ext uri="{FF2B5EF4-FFF2-40B4-BE49-F238E27FC236}">
                <a16:creationId xmlns:a16="http://schemas.microsoft.com/office/drawing/2014/main" id="{DEC8154D-7EB3-495E-9E7A-AE498F49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將結果區分為疾病關聯標的，以及具有 drug evidence 或 tractability、較具轉譯支持的標的。</a:t>
            </a:r>
          </a:p>
        </p:txBody>
      </p:sp>
      <p:sp>
        <p:nvSpPr>
          <p:cNvPr id="9" name="bar-345">
            <a:extLst xmlns:a="http://schemas.openxmlformats.org/drawingml/2006/main">
              <a:ext uri="{FF2B5EF4-FFF2-40B4-BE49-F238E27FC236}">
                <a16:creationId xmlns:a16="http://schemas.microsoft.com/office/drawing/2014/main" id="{AD1F1C2D-922B-46D6-AF7D-F97BAF7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345">
            <a:extLst xmlns:a="http://schemas.openxmlformats.org/drawingml/2006/main">
              <a:ext uri="{FF2B5EF4-FFF2-40B4-BE49-F238E27FC236}">
                <a16:creationId xmlns:a16="http://schemas.microsoft.com/office/drawing/2014/main" id="{97339E58-8E79-4BC8-A690-CD27D90A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151"/>
                </a:solidFill>
              </a:defRPr>
            </a:pPr>
            <a:r>
              <a:rPr sz="1800" b="1">
                <a:solidFill>
                  <a:srgbClr val="C85151"/>
                </a:solidFill>
              </a:rPr>
              <a:t>遇到的問題</a:t>
            </a:r>
          </a:p>
        </p:txBody>
      </p:sp>
      <p:sp>
        <p:nvSpPr>
          <p:cNvPr id="11" name="body-345">
            <a:extLst xmlns:a="http://schemas.openxmlformats.org/drawingml/2006/main">
              <a:ext uri="{FF2B5EF4-FFF2-40B4-BE49-F238E27FC236}">
                <a16:creationId xmlns:a16="http://schemas.microsoft.com/office/drawing/2014/main" id="{904A765F-768A-4D89-B0E5-80B78EC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模型容易把 Open Targets association score 當成療效或成功機率，並把所有疾病關聯標的直接稱為治療標的。</a:t>
            </a:r>
          </a:p>
        </p:txBody>
      </p:sp>
      <p:sp>
        <p:nvSpPr>
          <p:cNvPr id="12" name="bar-500">
            <a:extLst xmlns:a="http://schemas.openxmlformats.org/drawingml/2006/main">
              <a:ext uri="{FF2B5EF4-FFF2-40B4-BE49-F238E27FC236}">
                <a16:creationId xmlns:a16="http://schemas.microsoft.com/office/drawing/2014/main" id="{4E11A7FC-B317-4166-A056-65A4AE69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500">
            <a:extLst xmlns:a="http://schemas.openxmlformats.org/drawingml/2006/main">
              <a:ext uri="{FF2B5EF4-FFF2-40B4-BE49-F238E27FC236}">
                <a16:creationId xmlns:a16="http://schemas.microsoft.com/office/drawing/2014/main" id="{03E2BDC3-E3EB-470D-8094-996A5EDA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最後定案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C5E0835B-47A1-4072-90E7-1CC3425A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33"/>
                </a:solidFill>
              </a:defRPr>
            </a:pPr>
            <a:r>
              <a:rPr sz="1425" b="0">
                <a:solidFill>
                  <a:srgbClr val="162033"/>
                </a:solidFill>
              </a:rPr>
              <a:t>Plan 必須分開疾病關聯與轉譯支持，並明列：association 不等於 efficacy、score 不是機率、tractability 不等於臨床療效。</a:t>
            </a:r>
          </a:p>
        </p:txBody>
      </p:sp>
    </p:spTree>
    <p:extLst>
      <p:ext uri="{BB962C8B-B14F-4D97-AF65-F5344CB8AC3E}">
        <p14:creationId xmlns:p14="http://schemas.microsoft.com/office/powerpoint/2010/main" val="664423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9CFF1AA0-3BC3-48D0-9272-3369F384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0151624-6825-43DA-BD87-A12C4104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AGENT 1｜WEEKLY PROGRESS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4676C-E104-4864-BA19-F14C53D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本週有 4 項需要團隊定案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425048E-08CC-4AB9-9704-8D8879B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E75A69-061C-41E9-8868-5201E116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10</a:t>
            </a:r>
          </a:p>
        </p:txBody>
      </p:sp>
      <p:sp>
        <p:nvSpPr>
          <p:cNvPr id="6" name="dh-190">
            <a:extLst xmlns:a="http://schemas.openxmlformats.org/drawingml/2006/main">
              <a:ext uri="{FF2B5EF4-FFF2-40B4-BE49-F238E27FC236}">
                <a16:creationId xmlns:a16="http://schemas.microsoft.com/office/drawing/2014/main" id="{A95CB0B0-2C45-40F3-A93A-46E6758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01｜Plan 通過門檻</a:t>
            </a:r>
          </a:p>
        </p:txBody>
      </p:sp>
      <p:sp>
        <p:nvSpPr>
          <p:cNvPr id="7" name="db-190">
            <a:extLst xmlns:a="http://schemas.openxmlformats.org/drawingml/2006/main">
              <a:ext uri="{FF2B5EF4-FFF2-40B4-BE49-F238E27FC236}">
                <a16:creationId xmlns:a16="http://schemas.microsoft.com/office/drawing/2014/main" id="{F0C1BEC0-82F6-4DF8-B99E-D94409FC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自然語言 Plan 是否必須第一次就完整，或接受最多兩次診斷修復後通過？</a:t>
            </a:r>
          </a:p>
        </p:txBody>
      </p:sp>
      <p:sp>
        <p:nvSpPr>
          <p:cNvPr id="8" name="dl-190">
            <a:extLst xmlns:a="http://schemas.openxmlformats.org/drawingml/2006/main">
              <a:ext uri="{FF2B5EF4-FFF2-40B4-BE49-F238E27FC236}">
                <a16:creationId xmlns:a16="http://schemas.microsoft.com/office/drawing/2014/main" id="{41457AF7-A63F-4825-AD3B-BE97130B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h-298">
            <a:extLst xmlns:a="http://schemas.openxmlformats.org/drawingml/2006/main">
              <a:ext uri="{FF2B5EF4-FFF2-40B4-BE49-F238E27FC236}">
                <a16:creationId xmlns:a16="http://schemas.microsoft.com/office/drawing/2014/main" id="{FC12A341-55AD-4E5C-B1D4-6B89E43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02｜治療標的定義</a:t>
            </a:r>
          </a:p>
        </p:txBody>
      </p:sp>
      <p:sp>
        <p:nvSpPr>
          <p:cNvPr id="10" name="db-298">
            <a:extLst xmlns:a="http://schemas.openxmlformats.org/drawingml/2006/main">
              <a:ext uri="{FF2B5EF4-FFF2-40B4-BE49-F238E27FC236}">
                <a16:creationId xmlns:a16="http://schemas.microsoft.com/office/drawing/2014/main" id="{2807B651-13A2-4FA0-9E65-8B9AFEF7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是否正式採用「疾病關聯」與「轉譯支持」兩層輸出，避免把 association 直接視為 therapeutic evidence？</a:t>
            </a:r>
          </a:p>
        </p:txBody>
      </p:sp>
      <p:sp>
        <p:nvSpPr>
          <p:cNvPr id="11" name="dl-298">
            <a:extLst xmlns:a="http://schemas.openxmlformats.org/drawingml/2006/main">
              <a:ext uri="{FF2B5EF4-FFF2-40B4-BE49-F238E27FC236}">
                <a16:creationId xmlns:a16="http://schemas.microsoft.com/office/drawing/2014/main" id="{B56EF160-69F7-48E0-A8BB-F3D8AB89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h-406">
            <a:extLst xmlns:a="http://schemas.openxmlformats.org/drawingml/2006/main">
              <a:ext uri="{FF2B5EF4-FFF2-40B4-BE49-F238E27FC236}">
                <a16:creationId xmlns:a16="http://schemas.microsoft.com/office/drawing/2014/main" id="{EEDF3CAC-3454-4DEA-8432-190AAA4E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03｜模型逾時策略</a:t>
            </a:r>
          </a:p>
        </p:txBody>
      </p:sp>
      <p:sp>
        <p:nvSpPr>
          <p:cNvPr id="13" name="db-406">
            <a:extLst xmlns:a="http://schemas.openxmlformats.org/drawingml/2006/main">
              <a:ext uri="{FF2B5EF4-FFF2-40B4-BE49-F238E27FC236}">
                <a16:creationId xmlns:a16="http://schemas.microsoft.com/office/drawing/2014/main" id="{7267BC43-23E3-47DF-B224-0B700ADE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481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720 秒／次、1800 秒／題是否作為正式預設；逾時案例要重跑、換模型，或直接記為失敗？</a:t>
            </a:r>
          </a:p>
        </p:txBody>
      </p:sp>
      <p:sp>
        <p:nvSpPr>
          <p:cNvPr id="14" name="dl-406">
            <a:extLst xmlns:a="http://schemas.openxmlformats.org/drawingml/2006/main">
              <a:ext uri="{FF2B5EF4-FFF2-40B4-BE49-F238E27FC236}">
                <a16:creationId xmlns:a16="http://schemas.microsoft.com/office/drawing/2014/main" id="{CB4DC403-9050-435A-80AB-CD253B8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h-514">
            <a:extLst xmlns:a="http://schemas.openxmlformats.org/drawingml/2006/main">
              <a:ext uri="{FF2B5EF4-FFF2-40B4-BE49-F238E27FC236}">
                <a16:creationId xmlns:a16="http://schemas.microsoft.com/office/drawing/2014/main" id="{CD667EA5-1E39-4E3B-A6CC-DB46199C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04｜進入資料檢索的條件</a:t>
            </a:r>
          </a:p>
        </p:txBody>
      </p:sp>
      <p:sp>
        <p:nvSpPr>
          <p:cNvPr id="16" name="db-514">
            <a:extLst xmlns:a="http://schemas.openxmlformats.org/drawingml/2006/main">
              <a:ext uri="{FF2B5EF4-FFF2-40B4-BE49-F238E27FC236}">
                <a16:creationId xmlns:a16="http://schemas.microsoft.com/office/drawing/2014/main" id="{05E701BA-E399-4A5D-BD32-FFB8F483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33"/>
                </a:solidFill>
              </a:defRPr>
            </a:pPr>
            <a:r>
              <a:rPr sz="1500" b="0">
                <a:solidFill>
                  <a:srgbClr val="162033"/>
                </a:solidFill>
              </a:rPr>
              <a:t>要等 12 個 development cases 全數穩定後再啟動 retrieval，還是先讓已通過案例進入小規模串接？</a:t>
            </a:r>
          </a:p>
        </p:txBody>
      </p:sp>
      <p:sp>
        <p:nvSpPr>
          <p:cNvPr id="17" name="dl-514">
            <a:extLst xmlns:a="http://schemas.openxmlformats.org/drawingml/2006/main">
              <a:ext uri="{FF2B5EF4-FFF2-40B4-BE49-F238E27FC236}">
                <a16:creationId xmlns:a16="http://schemas.microsoft.com/office/drawing/2014/main" id="{3E1DC4BD-3297-4ACA-92C5-1AC2066F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e">
            <a:extLst xmlns:a="http://schemas.openxmlformats.org/drawingml/2006/main">
              <a:ext uri="{FF2B5EF4-FFF2-40B4-BE49-F238E27FC236}">
                <a16:creationId xmlns:a16="http://schemas.microsoft.com/office/drawing/2014/main" id="{DFEA0DCF-2FB4-4CFF-A639-A36181C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43A"/>
                </a:solidFill>
              </a:defRPr>
            </a:pPr>
            <a:r>
              <a:rPr sz="1650" b="1">
                <a:solidFill>
                  <a:srgbClr val="13243A"/>
                </a:solidFill>
              </a:rPr>
              <a:t>本週已把「Plan 不完整」轉化為可診斷的系統問題；下一階段的速度取決於團隊對通過標準與啟動檢索條件的共識。</a:t>
            </a:r>
          </a:p>
        </p:txBody>
      </p:sp>
    </p:spTree>
    <p:extLst>
      <p:ext uri="{BB962C8B-B14F-4D97-AF65-F5344CB8AC3E}">
        <p14:creationId xmlns:p14="http://schemas.microsoft.com/office/powerpoint/2010/main" val="138215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2026-08-30T13:11:33.5570000Z</dcterms:created>
  <dcterms:modified xsi:type="dcterms:W3CDTF">2026-08-30T13:11:33.5570000Z</dcterms:modified>
</coreProperties>
</file>