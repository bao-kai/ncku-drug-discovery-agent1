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fb64c98f6340f7" /><Relationship Type="http://schemas.openxmlformats.org/officeDocument/2006/relationships/extended-properties" Target="/docProps/app.xml" Id="R7513ecba12a3489d" /><Relationship Type="http://schemas.openxmlformats.org/officeDocument/2006/relationships/officeDocument" Target="/ppt/presentation.xml" Id="Rf287fbf671a2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0319b82b34b22"/>
  </p:sldMasterIdLst>
  <p:notesMasterIdLst>
    <p:notesMasterId xmlns:r="http://schemas.openxmlformats.org/officeDocument/2006/relationships" r:id="R5c3f4df5d4ef48c9"/>
  </p:notesMasterIdLst>
  <p:sldIdLst>
    <p:sldId xmlns:r="http://schemas.openxmlformats.org/officeDocument/2006/relationships" id="256" r:id="R2206ec2d8bff4bf5"/>
    <p:sldId xmlns:r="http://schemas.openxmlformats.org/officeDocument/2006/relationships" id="257" r:id="Re34b8f43b6204857"/>
    <p:sldId xmlns:r="http://schemas.openxmlformats.org/officeDocument/2006/relationships" id="258" r:id="R7d204fc3a15e432b"/>
    <p:sldId xmlns:r="http://schemas.openxmlformats.org/officeDocument/2006/relationships" id="259" r:id="R5b9a062ad159427a"/>
    <p:sldId xmlns:r="http://schemas.openxmlformats.org/officeDocument/2006/relationships" id="260" r:id="Ra01a8b0088ff45b9"/>
    <p:sldId xmlns:r="http://schemas.openxmlformats.org/officeDocument/2006/relationships" id="261" r:id="R83654cfe3bef449f"/>
    <p:sldId xmlns:r="http://schemas.openxmlformats.org/officeDocument/2006/relationships" id="262" r:id="R39dd943074a646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0591b1cd164030" /><Relationship Type="http://schemas.openxmlformats.org/officeDocument/2006/relationships/slideMaster" Target="/ppt/slideMasters/slideMaster1.xml" Id="Rbeb0319b82b34b22" /><Relationship Type="http://schemas.openxmlformats.org/officeDocument/2006/relationships/notesMaster" Target="/ppt/notesMasters/notesMaster1.xml" Id="R5c3f4df5d4ef48c9" /><Relationship Type="http://schemas.openxmlformats.org/officeDocument/2006/relationships/presProps" Target="/ppt/presProps.xml" Id="R62cb3198ca3448ca" /><Relationship Type="http://schemas.openxmlformats.org/officeDocument/2006/relationships/tableStyles" Target="/ppt/tableStyles.xml" Id="R19a4d60ef59b4dd0" /><Relationship Type="http://schemas.openxmlformats.org/officeDocument/2006/relationships/slide" Target="/ppt/slides/slide1.xml" Id="R2206ec2d8bff4bf5" /><Relationship Type="http://schemas.openxmlformats.org/officeDocument/2006/relationships/slide" Target="/ppt/slides/slide2.xml" Id="Re34b8f43b6204857" /><Relationship Type="http://schemas.openxmlformats.org/officeDocument/2006/relationships/slide" Target="/ppt/slides/slide3.xml" Id="R7d204fc3a15e432b" /><Relationship Type="http://schemas.openxmlformats.org/officeDocument/2006/relationships/slide" Target="/ppt/slides/slide4.xml" Id="R5b9a062ad159427a" /><Relationship Type="http://schemas.openxmlformats.org/officeDocument/2006/relationships/slide" Target="/ppt/slides/slide5.xml" Id="Ra01a8b0088ff45b9" /><Relationship Type="http://schemas.openxmlformats.org/officeDocument/2006/relationships/slide" Target="/ppt/slides/slide6.xml" Id="R83654cfe3bef449f" /><Relationship Type="http://schemas.openxmlformats.org/officeDocument/2006/relationships/slide" Target="/ppt/slides/slide7.xml" Id="R39dd943074a6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9ce72cf55f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1ced85d1c744d7" /><Relationship Type="http://schemas.openxmlformats.org/officeDocument/2006/relationships/notesMaster" Target="/ppt/notesMasters/notesMaster1.xml" Id="R3ba56caa65aa4b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204156d85548a0" /><Relationship Type="http://schemas.openxmlformats.org/officeDocument/2006/relationships/notesMaster" Target="/ppt/notesMasters/notesMaster1.xml" Id="Rbba46c84481146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be83533bc64e1f" /><Relationship Type="http://schemas.openxmlformats.org/officeDocument/2006/relationships/notesMaster" Target="/ppt/notesMasters/notesMaster1.xml" Id="Rf9bd941ad0fd45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fee6604e6442ea" /><Relationship Type="http://schemas.openxmlformats.org/officeDocument/2006/relationships/notesMaster" Target="/ppt/notesMasters/notesMaster1.xml" Id="R062db10ee6c447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9767ce1e8b43b0" /><Relationship Type="http://schemas.openxmlformats.org/officeDocument/2006/relationships/notesMaster" Target="/ppt/notesMasters/notesMaster1.xml" Id="R6f0d2ad50e82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ba132e93264aeb" /><Relationship Type="http://schemas.openxmlformats.org/officeDocument/2006/relationships/notesMaster" Target="/ppt/notesMasters/notesMaster1.xml" Id="Rb2c5afc24c2647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ad2aedd60f47fd" /><Relationship Type="http://schemas.openxmlformats.org/officeDocument/2006/relationships/notesMaster" Target="/ppt/notesMasters/notesMaster1.xml" Id="R2bb7ac6738f2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這次直接展示兩個 Agent 的實作方式。先看 Agent 1 做哪些事情、查多少資料以及最後交付什麼；再看 Agent 2 如何閱讀、判斷缺口並產生分析結果。中間會用一次實際的 Alzheimer’s disease–APP 輸出，讓團隊決定哪些底層欄位重要。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專案框架：PROJECT_STATUS.md（2026-08-08）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整體上，Agent 1 是唯一能查外部資料的角色，結束時產出 Stage1EvidencePackage。Agent 2 只讀取這份資料進行分析；若缺資料，就用 EvidenceRequest 退回 Agent 1。當必要資料足夠或已達停止條件，Agent 2 產出 TargetDrugLinkCard。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專案框架：PROJECT_STATUS.md（2026-08-08）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1 先判斷是指定 Target 還是疾病探索模式。指定模式處理一個 Target；探索模式先依 Open Targets overall score 選前十個候選 Target。Top 10 只限制候選 Target 數，不限制每個 Target 的底層證據筆數。Agent 1 接著查四個來源、驗證完整性、整理重複紀錄，最後同時保留原始資料和可交接摘要。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專案框架：PROJECT_STATUS.md（2026-08-08）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這是之前實際執行的 Alzheimer’s disease–APP 完整輸出。clinical_precedence 一共有 143 筆，而且 143 筆全部抓完。Open Targets 共用 schema 有 86 個可能欄位，但這批資料真正有值的約 19 個。資料包含高階段、核准、停止、文獻與作用方向；同一藥物會因不同試驗或報告重複出現，因此紀錄數不能直接當成有效性。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專案框架：PROJECT_STATUS.md（2026-08-08）</a:t>
            </a:r>
          </a:p>
          <a:p xmlns:a="http://schemas.openxmlformats.org/drawingml/2006/main">
            <a:r>
              <a:t>- 實際輸出：D:\NCKU_Drug_Discovery\outputs\agent1_APP_full_evidence.json（2026-08-06）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實際有值的欄位整理成五組。第一組是關聯身分；第二組是臨床成熟度；第三組是結果與風險；第四組是作用方向；第五組是來源與可追溯性。這裡先不替研究團隊刪欄位，而是請團隊逐組決定：哪些一定出現在 Agent 1 摘要、哪些只保留在 raw records、哪些未來不需要收集。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專案框架：PROJECT_STATUS.md（2026-08-08）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2 先讀取通過 schema 的 Stage1EvidencePackage，再比較作用機轉、活性、potency、selectivity、臨床成熟度、理化性質與 ADMET。它必須區分資料庫事實、衍生比較、未知與模型解讀。如果證據不足，結束輸出是 EvidenceRequest；如果資料足夠或已達停止條件，結束輸出是 TargetDrugLinkCard。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專案框架：PROJECT_STATUS.md（2026-08-08）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最後需要把兩個 Agent 的結束條件寫清楚。Agent 1 結束時，不代表所有資料都存在，而是所有必要來源都已執行或明確記錄失敗，且分頁、截斷、raw 和摘要皆可驗證。Agent 2 如果資訊足夠就輸出 Link Card；不足就提出 EvidenceRequest；若已達補查上限，則保留 unknown 與 limitation。現在真正需要團隊決定的是五組資訊保留層級、數量上限、必要欄位、補查輪數與停止標準。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專案框架：PROJECT_STATUS.md（2026-08-08）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09e75b10343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10ff156cf44d45" /><Relationship Type="http://schemas.openxmlformats.org/officeDocument/2006/relationships/slideLayout" Target="/ppt/slideLayouts/slideLayout1.xml" Id="R2a98039b998b4e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8039b998b4e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325e374349ea" /><Relationship Type="http://schemas.openxmlformats.org/officeDocument/2006/relationships/notesSlide" Target="/ppt/notesSlides/notesSlide1.xml" Id="R7879d03f560f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76083ee9249e3" /><Relationship Type="http://schemas.openxmlformats.org/officeDocument/2006/relationships/notesSlide" Target="/ppt/notesSlides/notesSlide2.xml" Id="Ref0e6a8b5501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92e53ab264e63" /><Relationship Type="http://schemas.openxmlformats.org/officeDocument/2006/relationships/notesSlide" Target="/ppt/notesSlides/notesSlide3.xml" Id="R489b1800fbdf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4060053d64199" /><Relationship Type="http://schemas.openxmlformats.org/officeDocument/2006/relationships/notesSlide" Target="/ppt/notesSlides/notesSlide4.xml" Id="R5c4c101be6254f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89020c97f4366" /><Relationship Type="http://schemas.openxmlformats.org/officeDocument/2006/relationships/notesSlide" Target="/ppt/notesSlides/notesSlide5.xml" Id="R35105635725d4e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ed8dd4e934d4b" /><Relationship Type="http://schemas.openxmlformats.org/officeDocument/2006/relationships/notesSlide" Target="/ppt/notesSlides/notesSlide6.xml" Id="R45f5422ccda24c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a4b409ccb450e" /><Relationship Type="http://schemas.openxmlformats.org/officeDocument/2006/relationships/notesSlide" Target="/ppt/notesSlides/notesSlide7.xml" Id="R106c11568b9f44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">
            <a:extLst xmlns:a="http://schemas.openxmlformats.org/drawingml/2006/main">
              <a:ext uri="{FF2B5EF4-FFF2-40B4-BE49-F238E27FC236}">
                <a16:creationId xmlns:a16="http://schemas.microsoft.com/office/drawing/2014/main" id="{81EB784C-28FD-4239-A6CE-A4DFCC79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16B"/>
                </a:solidFill>
              </a:defRPr>
            </a:pPr>
            <a:r>
              <a:rPr sz="975" b="1">
                <a:solidFill>
                  <a:srgbClr val="59616B"/>
                </a:solidFill>
              </a:rPr>
              <a:t>NCKU OPEN MODEL DRUG DISCOVERY ASSISTANT</a:t>
            </a:r>
          </a:p>
        </p:txBody>
      </p:sp>
      <p:sp>
        <p:nvSpPr>
          <p:cNvPr id="2" name="pg">
            <a:extLst xmlns:a="http://schemas.openxmlformats.org/drawingml/2006/main">
              <a:ext uri="{FF2B5EF4-FFF2-40B4-BE49-F238E27FC236}">
                <a16:creationId xmlns:a16="http://schemas.microsoft.com/office/drawing/2014/main" id="{FCC6690F-FAC9-41FD-93E6-B92047D7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</a:defRPr>
            </a:pPr>
            <a:r>
              <a:rPr sz="975" b="0">
                <a:solidFill>
                  <a:srgbClr val="59616B"/>
                </a:solidFill>
              </a:rPr>
              <a:t>01</a:t>
            </a:r>
          </a:p>
        </p:txBody>
      </p:sp>
      <p:sp>
        <p:nvSpPr>
          <p:cNvPr id="3" name="ct">
            <a:extLst xmlns:a="http://schemas.openxmlformats.org/drawingml/2006/main">
              <a:ext uri="{FF2B5EF4-FFF2-40B4-BE49-F238E27FC236}">
                <a16:creationId xmlns:a16="http://schemas.microsoft.com/office/drawing/2014/main" id="{ECC0018D-589A-4B18-B353-CAF03611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114"/>
                </a:solidFill>
              </a:defRPr>
            </a:pPr>
            <a:r>
              <a:rPr sz="4800" b="1">
                <a:solidFill>
                  <a:srgbClr val="101114"/>
                </a:solidFill>
              </a:rPr>
              <a:t>Agent 1 × Agent 2</a:t>
            </a:r>
          </a:p>
        </p:txBody>
      </p:sp>
      <p:sp>
        <p:nvSpPr>
          <p:cNvPr id="4" name="cs">
            <a:extLst xmlns:a="http://schemas.openxmlformats.org/drawingml/2006/main">
              <a:ext uri="{FF2B5EF4-FFF2-40B4-BE49-F238E27FC236}">
                <a16:creationId xmlns:a16="http://schemas.microsoft.com/office/drawing/2014/main" id="{8CDC042E-DF3E-4B1D-8887-E98934F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33A"/>
                </a:solidFill>
              </a:defRPr>
            </a:pPr>
            <a:r>
              <a:rPr sz="2250" b="0">
                <a:solidFill>
                  <a:srgbClr val="17233A"/>
                </a:solidFill>
              </a:rPr>
              <a:t>實作流程、交付物與待決定資訊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219AE4E0-6D1E-4520-BA64-759C4110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ope">
            <a:extLst xmlns:a="http://schemas.openxmlformats.org/drawingml/2006/main">
              <a:ext uri="{FF2B5EF4-FFF2-40B4-BE49-F238E27FC236}">
                <a16:creationId xmlns:a16="http://schemas.microsoft.com/office/drawing/2014/main" id="{D7B1974F-DF1E-4CC3-AA3D-937AB20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B"/>
                </a:solidFill>
              </a:defRPr>
            </a:pPr>
            <a:r>
              <a:rPr sz="1650" b="0">
                <a:solidFill>
                  <a:srgbClr val="59616B"/>
                </a:solidFill>
              </a:rPr>
              <a:t>Disease → Target → Drug evidence workflow</a:t>
            </a:r>
          </a:p>
        </p:txBody>
      </p:sp>
    </p:spTree>
    <p:extLst>
      <p:ext uri="{BB962C8B-B14F-4D97-AF65-F5344CB8AC3E}">
        <p14:creationId xmlns:p14="http://schemas.microsoft.com/office/powerpoint/2010/main" val="781031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">
            <a:extLst xmlns:a="http://schemas.openxmlformats.org/drawingml/2006/main">
              <a:ext uri="{FF2B5EF4-FFF2-40B4-BE49-F238E27FC236}">
                <a16:creationId xmlns:a16="http://schemas.microsoft.com/office/drawing/2014/main" id="{CBC9D074-895E-4119-B0BD-81D84ADA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16B"/>
                </a:solidFill>
              </a:defRPr>
            </a:pPr>
            <a:r>
              <a:rPr sz="975" b="1">
                <a:solidFill>
                  <a:srgbClr val="59616B"/>
                </a:solidFill>
              </a:rPr>
              <a:t>NCKU OPEN MODEL DRUG DISCOVERY ASSISTANT</a:t>
            </a:r>
          </a:p>
        </p:txBody>
      </p:sp>
      <p:sp>
        <p:nvSpPr>
          <p:cNvPr id="2" name="pg">
            <a:extLst xmlns:a="http://schemas.openxmlformats.org/drawingml/2006/main">
              <a:ext uri="{FF2B5EF4-FFF2-40B4-BE49-F238E27FC236}">
                <a16:creationId xmlns:a16="http://schemas.microsoft.com/office/drawing/2014/main" id="{58552EC9-AC48-47A0-A483-3F912DF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</a:defRPr>
            </a:pPr>
            <a:r>
              <a:rPr sz="975" b="0">
                <a:solidFill>
                  <a:srgbClr val="59616B"/>
                </a:solidFill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103052-5BEA-440E-822D-49656EA8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整體交接：Agent 1 取得證據，Agent 2 完成分析</a:t>
            </a:r>
          </a:p>
        </p:txBody>
      </p:sp>
      <p:sp>
        <p:nvSpPr>
          <p:cNvPr id="4" name="arr1">
            <a:extLst xmlns:a="http://schemas.openxmlformats.org/drawingml/2006/main">
              <a:ext uri="{FF2B5EF4-FFF2-40B4-BE49-F238E27FC236}">
                <a16:creationId xmlns:a16="http://schemas.microsoft.com/office/drawing/2014/main" id="{57E5956C-B6A0-46F4-A543-7A91768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5" name="arr2">
            <a:extLst xmlns:a="http://schemas.openxmlformats.org/drawingml/2006/main">
              <a:ext uri="{FF2B5EF4-FFF2-40B4-BE49-F238E27FC236}">
                <a16:creationId xmlns:a16="http://schemas.microsoft.com/office/drawing/2014/main" id="{BB9E39D8-0415-42ED-8C0C-A09C9BEC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a1">
            <a:extLst xmlns:a="http://schemas.openxmlformats.org/drawingml/2006/main">
              <a:ext uri="{FF2B5EF4-FFF2-40B4-BE49-F238E27FC236}">
                <a16:creationId xmlns:a16="http://schemas.microsoft.com/office/drawing/2014/main" id="{2C54988B-4CF5-45A0-A4A8-BCB4771B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1i-bg">
            <a:extLst xmlns:a="http://schemas.openxmlformats.org/drawingml/2006/main">
              <a:ext uri="{FF2B5EF4-FFF2-40B4-BE49-F238E27FC236}">
                <a16:creationId xmlns:a16="http://schemas.microsoft.com/office/drawing/2014/main" id="{602F2F8A-D45D-4FAC-AD1C-38A2BF0C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1i">
            <a:extLst xmlns:a="http://schemas.openxmlformats.org/drawingml/2006/main">
              <a:ext uri="{FF2B5EF4-FFF2-40B4-BE49-F238E27FC236}">
                <a16:creationId xmlns:a16="http://schemas.microsoft.com/office/drawing/2014/main" id="{92C2667D-4457-4BD9-8389-049A16FE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⌕</a:t>
            </a:r>
          </a:p>
        </p:txBody>
      </p:sp>
      <p:sp>
        <p:nvSpPr>
          <p:cNvPr id="9" name="a1t">
            <a:extLst xmlns:a="http://schemas.openxmlformats.org/drawingml/2006/main">
              <a:ext uri="{FF2B5EF4-FFF2-40B4-BE49-F238E27FC236}">
                <a16:creationId xmlns:a16="http://schemas.microsoft.com/office/drawing/2014/main" id="{E67E2CCB-AD4D-4318-9565-2BD4655E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AGENT 1</a:t>
            </a:r>
          </a:p>
        </p:txBody>
      </p:sp>
      <p:sp>
        <p:nvSpPr>
          <p:cNvPr id="10" name="a1h">
            <a:extLst xmlns:a="http://schemas.openxmlformats.org/drawingml/2006/main">
              <a:ext uri="{FF2B5EF4-FFF2-40B4-BE49-F238E27FC236}">
                <a16:creationId xmlns:a16="http://schemas.microsoft.com/office/drawing/2014/main" id="{1C8F7E37-AB1B-483B-92BE-0C9F8660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查找・驗證・整理</a:t>
            </a:r>
          </a:p>
        </p:txBody>
      </p:sp>
      <p:sp>
        <p:nvSpPr>
          <p:cNvPr id="11" name="a1o">
            <a:extLst xmlns:a="http://schemas.openxmlformats.org/drawingml/2006/main">
              <a:ext uri="{FF2B5EF4-FFF2-40B4-BE49-F238E27FC236}">
                <a16:creationId xmlns:a16="http://schemas.microsoft.com/office/drawing/2014/main" id="{E92357FB-136A-4363-9C84-EA44BEB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結束：Stage1EvidencePackage</a:t>
            </a:r>
          </a:p>
        </p:txBody>
      </p:sp>
      <p:sp>
        <p:nvSpPr>
          <p:cNvPr id="12" name="handoff">
            <a:extLst xmlns:a="http://schemas.openxmlformats.org/drawingml/2006/main">
              <a:ext uri="{FF2B5EF4-FFF2-40B4-BE49-F238E27FC236}">
                <a16:creationId xmlns:a16="http://schemas.microsoft.com/office/drawing/2014/main" id="{DB3C7CB9-376C-4927-B7B3-2774535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371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i-bg">
            <a:extLst xmlns:a="http://schemas.openxmlformats.org/drawingml/2006/main">
              <a:ext uri="{FF2B5EF4-FFF2-40B4-BE49-F238E27FC236}">
                <a16:creationId xmlns:a16="http://schemas.microsoft.com/office/drawing/2014/main" id="{6A13AFA6-A300-4C6F-A1F2-89925A4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i">
            <a:extLst xmlns:a="http://schemas.openxmlformats.org/drawingml/2006/main">
              <a:ext uri="{FF2B5EF4-FFF2-40B4-BE49-F238E27FC236}">
                <a16:creationId xmlns:a16="http://schemas.microsoft.com/office/drawing/2014/main" id="{C427D739-AD3B-451F-A224-0E4CAFF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⇄</a:t>
            </a:r>
          </a:p>
        </p:txBody>
      </p:sp>
      <p:sp>
        <p:nvSpPr>
          <p:cNvPr id="15" name="ht">
            <a:extLst xmlns:a="http://schemas.openxmlformats.org/drawingml/2006/main">
              <a:ext uri="{FF2B5EF4-FFF2-40B4-BE49-F238E27FC236}">
                <a16:creationId xmlns:a16="http://schemas.microsoft.com/office/drawing/2014/main" id="{6C49CC2A-F940-46FA-867E-E8842753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81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結構化交接</a:t>
            </a:r>
          </a:p>
        </p:txBody>
      </p:sp>
      <p:sp>
        <p:nvSpPr>
          <p:cNvPr id="16" name="hd">
            <a:extLst xmlns:a="http://schemas.openxmlformats.org/drawingml/2006/main">
              <a:ext uri="{FF2B5EF4-FFF2-40B4-BE49-F238E27FC236}">
                <a16:creationId xmlns:a16="http://schemas.microsoft.com/office/drawing/2014/main" id="{7CEEFAD8-D841-411F-A9F1-2723306A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8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Evidence Package / EvidenceRequest</a:t>
            </a:r>
          </a:p>
        </p:txBody>
      </p:sp>
      <p:sp>
        <p:nvSpPr>
          <p:cNvPr id="17" name="a2">
            <a:extLst xmlns:a="http://schemas.openxmlformats.org/drawingml/2006/main">
              <a:ext uri="{FF2B5EF4-FFF2-40B4-BE49-F238E27FC236}">
                <a16:creationId xmlns:a16="http://schemas.microsoft.com/office/drawing/2014/main" id="{7A837D51-ED25-4B40-8545-01AFE300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2i-bg">
            <a:extLst xmlns:a="http://schemas.openxmlformats.org/drawingml/2006/main">
              <a:ext uri="{FF2B5EF4-FFF2-40B4-BE49-F238E27FC236}">
                <a16:creationId xmlns:a16="http://schemas.microsoft.com/office/drawing/2014/main" id="{871F601C-6A39-4F4B-8073-35201CAE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2i">
            <a:extLst xmlns:a="http://schemas.openxmlformats.org/drawingml/2006/main">
              <a:ext uri="{FF2B5EF4-FFF2-40B4-BE49-F238E27FC236}">
                <a16:creationId xmlns:a16="http://schemas.microsoft.com/office/drawing/2014/main" id="{98EE7BB3-8083-4477-B79E-A003D4CC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a2t">
            <a:extLst xmlns:a="http://schemas.openxmlformats.org/drawingml/2006/main">
              <a:ext uri="{FF2B5EF4-FFF2-40B4-BE49-F238E27FC236}">
                <a16:creationId xmlns:a16="http://schemas.microsoft.com/office/drawing/2014/main" id="{7F5BE771-A603-4E77-8F98-83930236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AGENT 2</a:t>
            </a:r>
          </a:p>
        </p:txBody>
      </p:sp>
      <p:sp>
        <p:nvSpPr>
          <p:cNvPr id="21" name="a2h">
            <a:extLst xmlns:a="http://schemas.openxmlformats.org/drawingml/2006/main">
              <a:ext uri="{FF2B5EF4-FFF2-40B4-BE49-F238E27FC236}">
                <a16:creationId xmlns:a16="http://schemas.microsoft.com/office/drawing/2014/main" id="{ADBA9087-1F0D-4025-8328-512E658D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195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1114"/>
                </a:solidFill>
              </a:defRPr>
            </a:pPr>
            <a:r>
              <a:rPr sz="2175" b="1">
                <a:solidFill>
                  <a:srgbClr val="101114"/>
                </a:solidFill>
              </a:rPr>
              <a:t>比較・判斷・解讀</a:t>
            </a:r>
          </a:p>
        </p:txBody>
      </p:sp>
      <p:sp>
        <p:nvSpPr>
          <p:cNvPr id="22" name="a2o">
            <a:extLst xmlns:a="http://schemas.openxmlformats.org/drawingml/2006/main">
              <a:ext uri="{FF2B5EF4-FFF2-40B4-BE49-F238E27FC236}">
                <a16:creationId xmlns:a16="http://schemas.microsoft.com/office/drawing/2014/main" id="{896E0C66-C8FF-41C1-98B1-A62D37B6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95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結束：TargetDrugLinkCard</a:t>
            </a:r>
          </a:p>
        </p:txBody>
      </p:sp>
    </p:spTree>
    <p:extLst>
      <p:ext uri="{BB962C8B-B14F-4D97-AF65-F5344CB8AC3E}">
        <p14:creationId xmlns:p14="http://schemas.microsoft.com/office/powerpoint/2010/main" val="1262093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">
            <a:extLst xmlns:a="http://schemas.openxmlformats.org/drawingml/2006/main">
              <a:ext uri="{FF2B5EF4-FFF2-40B4-BE49-F238E27FC236}">
                <a16:creationId xmlns:a16="http://schemas.microsoft.com/office/drawing/2014/main" id="{06ACAA32-337C-42E0-856D-85EB763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16B"/>
                </a:solidFill>
              </a:defRPr>
            </a:pPr>
            <a:r>
              <a:rPr sz="975" b="1">
                <a:solidFill>
                  <a:srgbClr val="59616B"/>
                </a:solidFill>
              </a:rPr>
              <a:t>NCKU OPEN MODEL DRUG DISCOVERY ASSISTANT</a:t>
            </a:r>
          </a:p>
        </p:txBody>
      </p:sp>
      <p:sp>
        <p:nvSpPr>
          <p:cNvPr id="2" name="pg">
            <a:extLst xmlns:a="http://schemas.openxmlformats.org/drawingml/2006/main">
              <a:ext uri="{FF2B5EF4-FFF2-40B4-BE49-F238E27FC236}">
                <a16:creationId xmlns:a16="http://schemas.microsoft.com/office/drawing/2014/main" id="{6C22558F-F155-41DB-AF05-5FDA074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</a:defRPr>
            </a:pPr>
            <a:r>
              <a:rPr sz="975" b="0">
                <a:solidFill>
                  <a:srgbClr val="59616B"/>
                </a:solidFill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24CD0E-7A6C-4EB5-9161-332F1278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Agent 1｜從研究規劃到第一階段證據包</a:t>
            </a:r>
          </a:p>
        </p:txBody>
      </p:sp>
      <p:sp>
        <p:nvSpPr>
          <p:cNvPr id="4" name="a">
            <a:extLst xmlns:a="http://schemas.openxmlformats.org/drawingml/2006/main">
              <a:ext uri="{FF2B5EF4-FFF2-40B4-BE49-F238E27FC236}">
                <a16:creationId xmlns:a16="http://schemas.microsoft.com/office/drawing/2014/main" id="{6D20384F-31B7-40BF-938A-8D470B45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5" name="b">
            <a:extLst xmlns:a="http://schemas.openxmlformats.org/drawingml/2006/main">
              <a:ext uri="{FF2B5EF4-FFF2-40B4-BE49-F238E27FC236}">
                <a16:creationId xmlns:a16="http://schemas.microsoft.com/office/drawing/2014/main" id="{BBDD533F-2B38-4E7E-99F2-E26110AE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c">
            <a:extLst xmlns:a="http://schemas.openxmlformats.org/drawingml/2006/main">
              <a:ext uri="{FF2B5EF4-FFF2-40B4-BE49-F238E27FC236}">
                <a16:creationId xmlns:a16="http://schemas.microsoft.com/office/drawing/2014/main" id="{1EA72221-3F0A-448D-BA49-79CA713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ic1-bg">
            <a:extLst xmlns:a="http://schemas.openxmlformats.org/drawingml/2006/main">
              <a:ext uri="{FF2B5EF4-FFF2-40B4-BE49-F238E27FC236}">
                <a16:creationId xmlns:a16="http://schemas.microsoft.com/office/drawing/2014/main" id="{F49B9510-C969-468E-BC1D-7EA3E47B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c1">
            <a:extLst xmlns:a="http://schemas.openxmlformats.org/drawingml/2006/main">
              <a:ext uri="{FF2B5EF4-FFF2-40B4-BE49-F238E27FC236}">
                <a16:creationId xmlns:a16="http://schemas.microsoft.com/office/drawing/2014/main" id="{203215A1-DED8-492B-9B48-C2631B90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9" name="sh1">
            <a:extLst xmlns:a="http://schemas.openxmlformats.org/drawingml/2006/main">
              <a:ext uri="{FF2B5EF4-FFF2-40B4-BE49-F238E27FC236}">
                <a16:creationId xmlns:a16="http://schemas.microsoft.com/office/drawing/2014/main" id="{A39B0F44-4A37-46AB-956F-00A07D71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規劃</a:t>
            </a:r>
          </a:p>
        </p:txBody>
      </p:sp>
      <p:sp>
        <p:nvSpPr>
          <p:cNvPr id="10" name="sd1">
            <a:extLst xmlns:a="http://schemas.openxmlformats.org/drawingml/2006/main">
              <a:ext uri="{FF2B5EF4-FFF2-40B4-BE49-F238E27FC236}">
                <a16:creationId xmlns:a16="http://schemas.microsoft.com/office/drawing/2014/main" id="{690B969C-CBD2-46B0-823E-C3CF9E67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辨識模式與建立查詢計畫</a:t>
            </a:r>
          </a:p>
        </p:txBody>
      </p:sp>
      <p:sp>
        <p:nvSpPr>
          <p:cNvPr id="11" name="ic2-bg">
            <a:extLst xmlns:a="http://schemas.openxmlformats.org/drawingml/2006/main">
              <a:ext uri="{FF2B5EF4-FFF2-40B4-BE49-F238E27FC236}">
                <a16:creationId xmlns:a16="http://schemas.microsoft.com/office/drawing/2014/main" id="{B316B48A-537C-4A86-A8AC-42A46E1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c2">
            <a:extLst xmlns:a="http://schemas.openxmlformats.org/drawingml/2006/main">
              <a:ext uri="{FF2B5EF4-FFF2-40B4-BE49-F238E27FC236}">
                <a16:creationId xmlns:a16="http://schemas.microsoft.com/office/drawing/2014/main" id="{21D0C914-5D10-428E-BA78-CDA38233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⌕</a:t>
            </a:r>
          </a:p>
        </p:txBody>
      </p:sp>
      <p:sp>
        <p:nvSpPr>
          <p:cNvPr id="13" name="sh2">
            <a:extLst xmlns:a="http://schemas.openxmlformats.org/drawingml/2006/main">
              <a:ext uri="{FF2B5EF4-FFF2-40B4-BE49-F238E27FC236}">
                <a16:creationId xmlns:a16="http://schemas.microsoft.com/office/drawing/2014/main" id="{00E43A89-18B3-49ED-A69D-BFE0E937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查找</a:t>
            </a:r>
          </a:p>
        </p:txBody>
      </p:sp>
      <p:sp>
        <p:nvSpPr>
          <p:cNvPr id="14" name="sd2">
            <a:extLst xmlns:a="http://schemas.openxmlformats.org/drawingml/2006/main">
              <a:ext uri="{FF2B5EF4-FFF2-40B4-BE49-F238E27FC236}">
                <a16:creationId xmlns:a16="http://schemas.microsoft.com/office/drawing/2014/main" id="{EF457159-4DFC-4230-A458-07E596E9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依計畫自主呼叫工具</a:t>
            </a:r>
          </a:p>
        </p:txBody>
      </p:sp>
      <p:sp>
        <p:nvSpPr>
          <p:cNvPr id="15" name="ic3-bg">
            <a:extLst xmlns:a="http://schemas.openxmlformats.org/drawingml/2006/main">
              <a:ext uri="{FF2B5EF4-FFF2-40B4-BE49-F238E27FC236}">
                <a16:creationId xmlns:a16="http://schemas.microsoft.com/office/drawing/2014/main" id="{AF440E16-DF15-451A-ABD9-74270A29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c3">
            <a:extLst xmlns:a="http://schemas.openxmlformats.org/drawingml/2006/main">
              <a:ext uri="{FF2B5EF4-FFF2-40B4-BE49-F238E27FC236}">
                <a16:creationId xmlns:a16="http://schemas.microsoft.com/office/drawing/2014/main" id="{2F2F7D25-73EA-4752-BEBE-1C09405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sh3">
            <a:extLst xmlns:a="http://schemas.openxmlformats.org/drawingml/2006/main">
              <a:ext uri="{FF2B5EF4-FFF2-40B4-BE49-F238E27FC236}">
                <a16:creationId xmlns:a16="http://schemas.microsoft.com/office/drawing/2014/main" id="{7E8E1F41-CA3E-4C68-BEC8-F0B5D245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驗證</a:t>
            </a:r>
          </a:p>
        </p:txBody>
      </p:sp>
      <p:sp>
        <p:nvSpPr>
          <p:cNvPr id="18" name="sd3">
            <a:extLst xmlns:a="http://schemas.openxmlformats.org/drawingml/2006/main">
              <a:ext uri="{FF2B5EF4-FFF2-40B4-BE49-F238E27FC236}">
                <a16:creationId xmlns:a16="http://schemas.microsoft.com/office/drawing/2014/main" id="{F0675176-A968-4FE4-ABAF-A4B73D2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核對 ID、分頁、截斷與來源</a:t>
            </a:r>
          </a:p>
        </p:txBody>
      </p:sp>
      <p:sp>
        <p:nvSpPr>
          <p:cNvPr id="19" name="ic4-bg">
            <a:extLst xmlns:a="http://schemas.openxmlformats.org/drawingml/2006/main">
              <a:ext uri="{FF2B5EF4-FFF2-40B4-BE49-F238E27FC236}">
                <a16:creationId xmlns:a16="http://schemas.microsoft.com/office/drawing/2014/main" id="{7C8F6C0E-E7E8-4D1E-A711-F0EF5E9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c4">
            <a:extLst xmlns:a="http://schemas.openxmlformats.org/drawingml/2006/main">
              <a:ext uri="{FF2B5EF4-FFF2-40B4-BE49-F238E27FC236}">
                <a16:creationId xmlns:a16="http://schemas.microsoft.com/office/drawing/2014/main" id="{BC59E390-7F1F-47B4-98F9-7CFCF50A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≡</a:t>
            </a:r>
          </a:p>
        </p:txBody>
      </p:sp>
      <p:sp>
        <p:nvSpPr>
          <p:cNvPr id="21" name="sh4">
            <a:extLst xmlns:a="http://schemas.openxmlformats.org/drawingml/2006/main">
              <a:ext uri="{FF2B5EF4-FFF2-40B4-BE49-F238E27FC236}">
                <a16:creationId xmlns:a16="http://schemas.microsoft.com/office/drawing/2014/main" id="{F671E335-D17A-4966-A127-24C19CE2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整理</a:t>
            </a:r>
          </a:p>
        </p:txBody>
      </p:sp>
      <p:sp>
        <p:nvSpPr>
          <p:cNvPr id="22" name="sd4">
            <a:extLst xmlns:a="http://schemas.openxmlformats.org/drawingml/2006/main">
              <a:ext uri="{FF2B5EF4-FFF2-40B4-BE49-F238E27FC236}">
                <a16:creationId xmlns:a16="http://schemas.microsoft.com/office/drawing/2014/main" id="{9D695347-A419-45E3-A70A-5469A726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合併重複紀錄並保留原始證據</a:t>
            </a:r>
          </a:p>
        </p:txBody>
      </p:sp>
      <p:sp>
        <p:nvSpPr>
          <p:cNvPr id="23" name="details">
            <a:extLst xmlns:a="http://schemas.openxmlformats.org/drawingml/2006/main">
              <a:ext uri="{FF2B5EF4-FFF2-40B4-BE49-F238E27FC236}">
                <a16:creationId xmlns:a16="http://schemas.microsoft.com/office/drawing/2014/main" id="{0EF5EDF5-074E-4CF4-9F43-0CBAE4B1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800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h">
            <a:extLst xmlns:a="http://schemas.openxmlformats.org/drawingml/2006/main">
              <a:ext uri="{FF2B5EF4-FFF2-40B4-BE49-F238E27FC236}">
                <a16:creationId xmlns:a16="http://schemas.microsoft.com/office/drawing/2014/main" id="{5FAE3E16-E1E3-403F-B4C0-5E108F99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執行細項</a:t>
            </a:r>
          </a:p>
        </p:txBody>
      </p:sp>
      <p:sp>
        <p:nvSpPr>
          <p:cNvPr id="25" name="d1b">
            <a:extLst xmlns:a="http://schemas.openxmlformats.org/drawingml/2006/main">
              <a:ext uri="{FF2B5EF4-FFF2-40B4-BE49-F238E27FC236}">
                <a16:creationId xmlns:a16="http://schemas.microsoft.com/office/drawing/2014/main" id="{C00C3FC8-3600-46BC-9454-3BE3C781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1">
            <a:extLst xmlns:a="http://schemas.openxmlformats.org/drawingml/2006/main">
              <a:ext uri="{FF2B5EF4-FFF2-40B4-BE49-F238E27FC236}">
                <a16:creationId xmlns:a16="http://schemas.microsoft.com/office/drawing/2014/main" id="{B88F827D-4D14-4F2D-A8D6-CA2576A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860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指定模式：1 個 Target</a:t>
            </a:r>
          </a:p>
        </p:txBody>
      </p:sp>
      <p:sp>
        <p:nvSpPr>
          <p:cNvPr id="27" name="d2b">
            <a:extLst xmlns:a="http://schemas.openxmlformats.org/drawingml/2006/main">
              <a:ext uri="{FF2B5EF4-FFF2-40B4-BE49-F238E27FC236}">
                <a16:creationId xmlns:a16="http://schemas.microsoft.com/office/drawing/2014/main" id="{B9DE6327-7BF5-4017-8603-960AD00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2">
            <a:extLst xmlns:a="http://schemas.openxmlformats.org/drawingml/2006/main">
              <a:ext uri="{FF2B5EF4-FFF2-40B4-BE49-F238E27FC236}">
                <a16:creationId xmlns:a16="http://schemas.microsoft.com/office/drawing/2014/main" id="{FAB5B732-7B22-4E2F-BCD3-C3A4785F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探索模式：先選 Top 10 Targets</a:t>
            </a:r>
          </a:p>
        </p:txBody>
      </p:sp>
      <p:sp>
        <p:nvSpPr>
          <p:cNvPr id="29" name="d3b">
            <a:extLst xmlns:a="http://schemas.openxmlformats.org/drawingml/2006/main">
              <a:ext uri="{FF2B5EF4-FFF2-40B4-BE49-F238E27FC236}">
                <a16:creationId xmlns:a16="http://schemas.microsoft.com/office/drawing/2014/main" id="{CAA33F4D-6135-4A5F-90D8-819DBA9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3">
            <a:extLst xmlns:a="http://schemas.openxmlformats.org/drawingml/2006/main">
              <a:ext uri="{FF2B5EF4-FFF2-40B4-BE49-F238E27FC236}">
                <a16:creationId xmlns:a16="http://schemas.microsoft.com/office/drawing/2014/main" id="{85672CB1-116E-4BF8-966C-FBD5F2D1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來源：OT、Europe PMC、CT.gov、ChEMBL</a:t>
            </a:r>
          </a:p>
        </p:txBody>
      </p:sp>
      <p:sp>
        <p:nvSpPr>
          <p:cNvPr id="31" name="d4b">
            <a:extLst xmlns:a="http://schemas.openxmlformats.org/drawingml/2006/main">
              <a:ext uri="{FF2B5EF4-FFF2-40B4-BE49-F238E27FC236}">
                <a16:creationId xmlns:a16="http://schemas.microsoft.com/office/drawing/2014/main" id="{6F6D6E90-77A6-41CE-9916-01D7E32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4">
            <a:extLst xmlns:a="http://schemas.openxmlformats.org/drawingml/2006/main">
              <a:ext uri="{FF2B5EF4-FFF2-40B4-BE49-F238E27FC236}">
                <a16:creationId xmlns:a16="http://schemas.microsoft.com/office/drawing/2014/main" id="{717E3EF0-C5E3-4CFE-A89A-94AFAAAE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48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底層證據不限制為 10 筆</a:t>
            </a:r>
          </a:p>
        </p:txBody>
      </p:sp>
      <p:sp>
        <p:nvSpPr>
          <p:cNvPr id="33" name="d5b">
            <a:extLst xmlns:a="http://schemas.openxmlformats.org/drawingml/2006/main">
              <a:ext uri="{FF2B5EF4-FFF2-40B4-BE49-F238E27FC236}">
                <a16:creationId xmlns:a16="http://schemas.microsoft.com/office/drawing/2014/main" id="{BE8B70BD-CBC2-43B0-8C6F-E002416B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5">
            <a:extLst xmlns:a="http://schemas.openxmlformats.org/drawingml/2006/main">
              <a:ext uri="{FF2B5EF4-FFF2-40B4-BE49-F238E27FC236}">
                <a16:creationId xmlns:a16="http://schemas.microsoft.com/office/drawing/2014/main" id="{91019730-87DA-421E-8F9E-9C95AE06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053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記錄筆數、分頁與停止原因</a:t>
            </a:r>
          </a:p>
        </p:txBody>
      </p:sp>
      <p:sp>
        <p:nvSpPr>
          <p:cNvPr id="35" name="end">
            <a:extLst xmlns:a="http://schemas.openxmlformats.org/drawingml/2006/main">
              <a:ext uri="{FF2B5EF4-FFF2-40B4-BE49-F238E27FC236}">
                <a16:creationId xmlns:a16="http://schemas.microsoft.com/office/drawing/2014/main" id="{BDFBFA79-2BAA-4F59-B735-9D5C29A7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767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ndt">
            <a:extLst xmlns:a="http://schemas.openxmlformats.org/drawingml/2006/main">
              <a:ext uri="{FF2B5EF4-FFF2-40B4-BE49-F238E27FC236}">
                <a16:creationId xmlns:a16="http://schemas.microsoft.com/office/drawing/2014/main" id="{268A7F10-DED7-4778-8BAD-97421BA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43525"/>
            <a:ext cx="725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結束輸出：raw records + datasource summary + Stage1EvidencePackage</a:t>
            </a:r>
          </a:p>
        </p:txBody>
      </p:sp>
    </p:spTree>
    <p:extLst>
      <p:ext uri="{BB962C8B-B14F-4D97-AF65-F5344CB8AC3E}">
        <p14:creationId xmlns:p14="http://schemas.microsoft.com/office/powerpoint/2010/main" val="1052840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">
            <a:extLst xmlns:a="http://schemas.openxmlformats.org/drawingml/2006/main">
              <a:ext uri="{FF2B5EF4-FFF2-40B4-BE49-F238E27FC236}">
                <a16:creationId xmlns:a16="http://schemas.microsoft.com/office/drawing/2014/main" id="{9CDDB817-CA13-4455-B814-AE34D8B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16B"/>
                </a:solidFill>
              </a:defRPr>
            </a:pPr>
            <a:r>
              <a:rPr sz="975" b="1">
                <a:solidFill>
                  <a:srgbClr val="59616B"/>
                </a:solidFill>
              </a:rPr>
              <a:t>NCKU OPEN MODEL DRUG DISCOVERY ASSISTANT</a:t>
            </a:r>
          </a:p>
        </p:txBody>
      </p:sp>
      <p:sp>
        <p:nvSpPr>
          <p:cNvPr id="2" name="pg">
            <a:extLst xmlns:a="http://schemas.openxmlformats.org/drawingml/2006/main">
              <a:ext uri="{FF2B5EF4-FFF2-40B4-BE49-F238E27FC236}">
                <a16:creationId xmlns:a16="http://schemas.microsoft.com/office/drawing/2014/main" id="{41CAB1BD-EE42-40CB-9F95-E7E8AF13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</a:defRPr>
            </a:pPr>
            <a:r>
              <a:rPr sz="975" b="0">
                <a:solidFill>
                  <a:srgbClr val="59616B"/>
                </a:solidFill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F53489-3CA3-40DC-BFE9-B8BC5828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Agent 1 實際輸出｜Alzheimer’s disease × APP</a:t>
            </a:r>
          </a:p>
        </p:txBody>
      </p:sp>
      <p:sp>
        <p:nvSpPr>
          <p:cNvPr id="4" name="st0">
            <a:extLst xmlns:a="http://schemas.openxmlformats.org/drawingml/2006/main">
              <a:ext uri="{FF2B5EF4-FFF2-40B4-BE49-F238E27FC236}">
                <a16:creationId xmlns:a16="http://schemas.microsoft.com/office/drawing/2014/main" id="{7F84F8C3-4984-4FED-AC28-C897754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v0">
            <a:extLst xmlns:a="http://schemas.openxmlformats.org/drawingml/2006/main">
              <a:ext uri="{FF2B5EF4-FFF2-40B4-BE49-F238E27FC236}">
                <a16:creationId xmlns:a16="http://schemas.microsoft.com/office/drawing/2014/main" id="{0F37C889-DB73-4D51-9660-1ACC9A90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143</a:t>
            </a:r>
          </a:p>
        </p:txBody>
      </p:sp>
      <p:sp>
        <p:nvSpPr>
          <p:cNvPr id="6" name="sl0">
            <a:extLst xmlns:a="http://schemas.openxmlformats.org/drawingml/2006/main">
              <a:ext uri="{FF2B5EF4-FFF2-40B4-BE49-F238E27FC236}">
                <a16:creationId xmlns:a16="http://schemas.microsoft.com/office/drawing/2014/main" id="{2DD97B95-A646-4155-9F6A-FB560F5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16B"/>
                </a:solidFill>
              </a:defRPr>
            </a:pPr>
            <a:r>
              <a:rPr sz="1350" b="0">
                <a:solidFill>
                  <a:srgbClr val="59616B"/>
                </a:solidFill>
              </a:rPr>
              <a:t>底層臨床證據</a:t>
            </a:r>
          </a:p>
        </p:txBody>
      </p:sp>
      <p:sp>
        <p:nvSpPr>
          <p:cNvPr id="7" name="st1">
            <a:extLst xmlns:a="http://schemas.openxmlformats.org/drawingml/2006/main">
              <a:ext uri="{FF2B5EF4-FFF2-40B4-BE49-F238E27FC236}">
                <a16:creationId xmlns:a16="http://schemas.microsoft.com/office/drawing/2014/main" id="{36DFDA6F-3D16-4DF5-BFF0-1D78451A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v1">
            <a:extLst xmlns:a="http://schemas.openxmlformats.org/drawingml/2006/main">
              <a:ext uri="{FF2B5EF4-FFF2-40B4-BE49-F238E27FC236}">
                <a16:creationId xmlns:a16="http://schemas.microsoft.com/office/drawing/2014/main" id="{2600D1FA-7516-43D0-9339-5D2B546E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D8DFF"/>
                </a:solidFill>
              </a:defRPr>
            </a:pPr>
            <a:r>
              <a:rPr sz="2625" b="1">
                <a:solidFill>
                  <a:srgbClr val="3D8DFF"/>
                </a:solidFill>
              </a:rPr>
              <a:t>143 / 143</a:t>
            </a:r>
          </a:p>
        </p:txBody>
      </p:sp>
      <p:sp>
        <p:nvSpPr>
          <p:cNvPr id="9" name="sl1">
            <a:extLst xmlns:a="http://schemas.openxmlformats.org/drawingml/2006/main">
              <a:ext uri="{FF2B5EF4-FFF2-40B4-BE49-F238E27FC236}">
                <a16:creationId xmlns:a16="http://schemas.microsoft.com/office/drawing/2014/main" id="{F131DB89-0D84-4475-8C81-CBF87E9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16B"/>
                </a:solidFill>
              </a:defRPr>
            </a:pPr>
            <a:r>
              <a:rPr sz="1350" b="0">
                <a:solidFill>
                  <a:srgbClr val="59616B"/>
                </a:solidFill>
              </a:rPr>
              <a:t>完整抓取</a:t>
            </a:r>
          </a:p>
        </p:txBody>
      </p:sp>
      <p:sp>
        <p:nvSpPr>
          <p:cNvPr id="10" name="st2">
            <a:extLst xmlns:a="http://schemas.openxmlformats.org/drawingml/2006/main">
              <a:ext uri="{FF2B5EF4-FFF2-40B4-BE49-F238E27FC236}">
                <a16:creationId xmlns:a16="http://schemas.microsoft.com/office/drawing/2014/main" id="{95846D6E-5DD1-479D-B278-F4CE8EF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2">
            <a:extLst xmlns:a="http://schemas.openxmlformats.org/drawingml/2006/main">
              <a:ext uri="{FF2B5EF4-FFF2-40B4-BE49-F238E27FC236}">
                <a16:creationId xmlns:a16="http://schemas.microsoft.com/office/drawing/2014/main" id="{53A67CEA-F9DD-4871-9F92-56BFAAF7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86</a:t>
            </a:r>
          </a:p>
        </p:txBody>
      </p:sp>
      <p:sp>
        <p:nvSpPr>
          <p:cNvPr id="12" name="sl2">
            <a:extLst xmlns:a="http://schemas.openxmlformats.org/drawingml/2006/main">
              <a:ext uri="{FF2B5EF4-FFF2-40B4-BE49-F238E27FC236}">
                <a16:creationId xmlns:a16="http://schemas.microsoft.com/office/drawing/2014/main" id="{22907D1D-EFB1-4125-8FF4-AC47768F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16B"/>
                </a:solidFill>
              </a:defRPr>
            </a:pPr>
            <a:r>
              <a:rPr sz="1350" b="0">
                <a:solidFill>
                  <a:srgbClr val="59616B"/>
                </a:solidFill>
              </a:rPr>
              <a:t>可能欄位</a:t>
            </a:r>
          </a:p>
        </p:txBody>
      </p:sp>
      <p:sp>
        <p:nvSpPr>
          <p:cNvPr id="13" name="st3">
            <a:extLst xmlns:a="http://schemas.openxmlformats.org/drawingml/2006/main">
              <a:ext uri="{FF2B5EF4-FFF2-40B4-BE49-F238E27FC236}">
                <a16:creationId xmlns:a16="http://schemas.microsoft.com/office/drawing/2014/main" id="{2214AA96-E50B-4535-BA39-AFB1A5DC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v3">
            <a:extLst xmlns:a="http://schemas.openxmlformats.org/drawingml/2006/main">
              <a:ext uri="{FF2B5EF4-FFF2-40B4-BE49-F238E27FC236}">
                <a16:creationId xmlns:a16="http://schemas.microsoft.com/office/drawing/2014/main" id="{195F4B25-EFFE-4B6A-8594-63D4F43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約 19</a:t>
            </a:r>
          </a:p>
        </p:txBody>
      </p:sp>
      <p:sp>
        <p:nvSpPr>
          <p:cNvPr id="15" name="sl3">
            <a:extLst xmlns:a="http://schemas.openxmlformats.org/drawingml/2006/main">
              <a:ext uri="{FF2B5EF4-FFF2-40B4-BE49-F238E27FC236}">
                <a16:creationId xmlns:a16="http://schemas.microsoft.com/office/drawing/2014/main" id="{CD55331F-002E-446E-9DC0-4967F206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16B"/>
                </a:solidFill>
              </a:defRPr>
            </a:pPr>
            <a:r>
              <a:rPr sz="1350" b="0">
                <a:solidFill>
                  <a:srgbClr val="59616B"/>
                </a:solidFill>
              </a:rPr>
              <a:t>實際有值欄位</a:t>
            </a:r>
          </a:p>
        </p:txBody>
      </p:sp>
      <p:sp>
        <p:nvSpPr>
          <p:cNvPr id="16" name="left">
            <a:extLst xmlns:a="http://schemas.openxmlformats.org/drawingml/2006/main">
              <a:ext uri="{FF2B5EF4-FFF2-40B4-BE49-F238E27FC236}">
                <a16:creationId xmlns:a16="http://schemas.microsoft.com/office/drawing/2014/main" id="{1FFFB0A2-66A5-4F71-A7F5-28C960A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資料內容</a:t>
            </a:r>
          </a:p>
        </p:txBody>
      </p:sp>
      <p:sp>
        <p:nvSpPr>
          <p:cNvPr id="17" name="r1b">
            <a:extLst xmlns:a="http://schemas.openxmlformats.org/drawingml/2006/main">
              <a:ext uri="{FF2B5EF4-FFF2-40B4-BE49-F238E27FC236}">
                <a16:creationId xmlns:a16="http://schemas.microsoft.com/office/drawing/2014/main" id="{1B6511E2-47D4-48F9-BF09-C3941A9A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1">
            <a:extLst xmlns:a="http://schemas.openxmlformats.org/drawingml/2006/main">
              <a:ext uri="{FF2B5EF4-FFF2-40B4-BE49-F238E27FC236}">
                <a16:creationId xmlns:a16="http://schemas.microsoft.com/office/drawing/2014/main" id="{50DE3FEB-4B6D-4A80-A9E7-77AB38B2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47 筆 Phase III、42 筆 Phase II</a:t>
            </a:r>
          </a:p>
        </p:txBody>
      </p:sp>
      <p:sp>
        <p:nvSpPr>
          <p:cNvPr id="19" name="r2b">
            <a:extLst xmlns:a="http://schemas.openxmlformats.org/drawingml/2006/main">
              <a:ext uri="{FF2B5EF4-FFF2-40B4-BE49-F238E27FC236}">
                <a16:creationId xmlns:a16="http://schemas.microsoft.com/office/drawing/2014/main" id="{8FBC0E25-55A9-443E-A4C3-E180863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2">
            <a:extLst xmlns:a="http://schemas.openxmlformats.org/drawingml/2006/main">
              <a:ext uri="{FF2B5EF4-FFF2-40B4-BE49-F238E27FC236}">
                <a16:creationId xmlns:a16="http://schemas.microsoft.com/office/drawing/2014/main" id="{E640848A-3CDA-44AA-898D-3041C4DB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9 筆 Approval、2 筆 Phase IV</a:t>
            </a:r>
          </a:p>
        </p:txBody>
      </p:sp>
      <p:sp>
        <p:nvSpPr>
          <p:cNvPr id="21" name="r3b">
            <a:extLst xmlns:a="http://schemas.openxmlformats.org/drawingml/2006/main">
              <a:ext uri="{FF2B5EF4-FFF2-40B4-BE49-F238E27FC236}">
                <a16:creationId xmlns:a16="http://schemas.microsoft.com/office/drawing/2014/main" id="{DB4E806E-6B6B-4BAD-B954-24456C7A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3">
            <a:extLst xmlns:a="http://schemas.openxmlformats.org/drawingml/2006/main">
              <a:ext uri="{FF2B5EF4-FFF2-40B4-BE49-F238E27FC236}">
                <a16:creationId xmlns:a16="http://schemas.microsoft.com/office/drawing/2014/main" id="{1A5F372D-6AAF-442F-BA57-2D6C68F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24 筆有試驗停止原因</a:t>
            </a:r>
          </a:p>
        </p:txBody>
      </p:sp>
      <p:sp>
        <p:nvSpPr>
          <p:cNvPr id="23" name="r4b">
            <a:extLst xmlns:a="http://schemas.openxmlformats.org/drawingml/2006/main">
              <a:ext uri="{FF2B5EF4-FFF2-40B4-BE49-F238E27FC236}">
                <a16:creationId xmlns:a16="http://schemas.microsoft.com/office/drawing/2014/main" id="{5019D58B-4D5F-4493-8A9F-4F46F791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4">
            <a:extLst xmlns:a="http://schemas.openxmlformats.org/drawingml/2006/main">
              <a:ext uri="{FF2B5EF4-FFF2-40B4-BE49-F238E27FC236}">
                <a16:creationId xmlns:a16="http://schemas.microsoft.com/office/drawing/2014/main" id="{74F7F681-3E53-4DC2-9606-A1A8A534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65 筆有文獻，62 筆有 Target 方向</a:t>
            </a:r>
          </a:p>
        </p:txBody>
      </p:sp>
      <p:sp>
        <p:nvSpPr>
          <p:cNvPr id="25" name="right">
            <a:extLst xmlns:a="http://schemas.openxmlformats.org/drawingml/2006/main">
              <a:ext uri="{FF2B5EF4-FFF2-40B4-BE49-F238E27FC236}">
                <a16:creationId xmlns:a16="http://schemas.microsoft.com/office/drawing/2014/main" id="{31609325-D9D6-43B3-A90F-17FE696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最常出現的藥物紀錄</a:t>
            </a:r>
          </a:p>
        </p:txBody>
      </p:sp>
      <p:sp>
        <p:nvSpPr>
          <p:cNvPr id="26" name="q1b">
            <a:extLst xmlns:a="http://schemas.openxmlformats.org/drawingml/2006/main">
              <a:ext uri="{FF2B5EF4-FFF2-40B4-BE49-F238E27FC236}">
                <a16:creationId xmlns:a16="http://schemas.microsoft.com/office/drawing/2014/main" id="{C8049D88-EEC0-4A14-8D30-FD9BA8E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q1">
            <a:extLst xmlns:a="http://schemas.openxmlformats.org/drawingml/2006/main">
              <a:ext uri="{FF2B5EF4-FFF2-40B4-BE49-F238E27FC236}">
                <a16:creationId xmlns:a16="http://schemas.microsoft.com/office/drawing/2014/main" id="{5572D33D-21F8-4B4F-9BA7-CE1C5C5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lecanemab 23、donanemab 18</a:t>
            </a:r>
          </a:p>
        </p:txBody>
      </p:sp>
      <p:sp>
        <p:nvSpPr>
          <p:cNvPr id="28" name="q2b">
            <a:extLst xmlns:a="http://schemas.openxmlformats.org/drawingml/2006/main">
              <a:ext uri="{FF2B5EF4-FFF2-40B4-BE49-F238E27FC236}">
                <a16:creationId xmlns:a16="http://schemas.microsoft.com/office/drawing/2014/main" id="{30EB8993-3A9A-4C72-B4CC-CEC9A0A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q2">
            <a:extLst xmlns:a="http://schemas.openxmlformats.org/drawingml/2006/main">
              <a:ext uri="{FF2B5EF4-FFF2-40B4-BE49-F238E27FC236}">
                <a16:creationId xmlns:a16="http://schemas.microsoft.com/office/drawing/2014/main" id="{8F72D20E-37D3-484F-BD25-947E102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bapineuzumab 15、gantenerumab 14</a:t>
            </a:r>
          </a:p>
        </p:txBody>
      </p:sp>
      <p:sp>
        <p:nvSpPr>
          <p:cNvPr id="30" name="q3b">
            <a:extLst xmlns:a="http://schemas.openxmlformats.org/drawingml/2006/main">
              <a:ext uri="{FF2B5EF4-FFF2-40B4-BE49-F238E27FC236}">
                <a16:creationId xmlns:a16="http://schemas.microsoft.com/office/drawing/2014/main" id="{54E9CD7C-6925-47E3-A270-09BCEEE7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q3">
            <a:extLst xmlns:a="http://schemas.openxmlformats.org/drawingml/2006/main">
              <a:ext uri="{FF2B5EF4-FFF2-40B4-BE49-F238E27FC236}">
                <a16:creationId xmlns:a16="http://schemas.microsoft.com/office/drawing/2014/main" id="{304BA41E-23FD-42A9-96F4-9B786412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aducanumab 11、solanezumab 11</a:t>
            </a:r>
          </a:p>
        </p:txBody>
      </p:sp>
      <p:sp>
        <p:nvSpPr>
          <p:cNvPr id="32" name="q4b">
            <a:extLst xmlns:a="http://schemas.openxmlformats.org/drawingml/2006/main">
              <a:ext uri="{FF2B5EF4-FFF2-40B4-BE49-F238E27FC236}">
                <a16:creationId xmlns:a16="http://schemas.microsoft.com/office/drawing/2014/main" id="{9FBA0096-A786-45C4-A644-5D864F69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q4">
            <a:extLst xmlns:a="http://schemas.openxmlformats.org/drawingml/2006/main">
              <a:ext uri="{FF2B5EF4-FFF2-40B4-BE49-F238E27FC236}">
                <a16:creationId xmlns:a16="http://schemas.microsoft.com/office/drawing/2014/main" id="{5FCB12CB-9827-4F8E-A4B4-508E0D5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3A"/>
                </a:solidFill>
              </a:defRPr>
            </a:pPr>
            <a:r>
              <a:rPr sz="1500" b="0">
                <a:solidFill>
                  <a:srgbClr val="17233A"/>
                </a:solidFill>
              </a:rPr>
              <a:t>紀錄多只代表研究多，不代表有效</a:t>
            </a:r>
          </a:p>
        </p:txBody>
      </p:sp>
    </p:spTree>
    <p:extLst>
      <p:ext uri="{BB962C8B-B14F-4D97-AF65-F5344CB8AC3E}">
        <p14:creationId xmlns:p14="http://schemas.microsoft.com/office/powerpoint/2010/main" val="1774053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">
            <a:extLst xmlns:a="http://schemas.openxmlformats.org/drawingml/2006/main">
              <a:ext uri="{FF2B5EF4-FFF2-40B4-BE49-F238E27FC236}">
                <a16:creationId xmlns:a16="http://schemas.microsoft.com/office/drawing/2014/main" id="{E1A74C05-0F26-4A1D-A3A0-F38C632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16B"/>
                </a:solidFill>
              </a:defRPr>
            </a:pPr>
            <a:r>
              <a:rPr sz="975" b="1">
                <a:solidFill>
                  <a:srgbClr val="59616B"/>
                </a:solidFill>
              </a:rPr>
              <a:t>NCKU OPEN MODEL DRUG DISCOVERY ASSISTANT</a:t>
            </a:r>
          </a:p>
        </p:txBody>
      </p:sp>
      <p:sp>
        <p:nvSpPr>
          <p:cNvPr id="2" name="pg">
            <a:extLst xmlns:a="http://schemas.openxmlformats.org/drawingml/2006/main">
              <a:ext uri="{FF2B5EF4-FFF2-40B4-BE49-F238E27FC236}">
                <a16:creationId xmlns:a16="http://schemas.microsoft.com/office/drawing/2014/main" id="{D0CD12BC-2CF3-47D9-85E7-B5DB9867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</a:defRPr>
            </a:pPr>
            <a:r>
              <a:rPr sz="975" b="0">
                <a:solidFill>
                  <a:srgbClr val="59616B"/>
                </a:solidFill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418EEE-4F95-49CD-9D6E-66BA8904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從 143 筆輸出整理出的五組候選重要資訊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1DD2CC9D-874F-40DA-8282-D980950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</a:defRPr>
            </a:pPr>
            <a:r>
              <a:rPr sz="1425" b="0">
                <a:solidFill>
                  <a:srgbClr val="59616B"/>
                </a:solidFill>
              </a:rPr>
              <a:t>請團隊決定：放入摘要／僅保留 raw／不需要</a:t>
            </a:r>
          </a:p>
        </p:txBody>
      </p:sp>
      <p:sp>
        <p:nvSpPr>
          <p:cNvPr id="5" name="num0">
            <a:extLst xmlns:a="http://schemas.openxmlformats.org/drawingml/2006/main">
              <a:ext uri="{FF2B5EF4-FFF2-40B4-BE49-F238E27FC236}">
                <a16:creationId xmlns:a16="http://schemas.microsoft.com/office/drawing/2014/main" id="{939D9D4B-6A55-409C-94C9-C05D83B8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rh0">
            <a:extLst xmlns:a="http://schemas.openxmlformats.org/drawingml/2006/main">
              <a:ext uri="{FF2B5EF4-FFF2-40B4-BE49-F238E27FC236}">
                <a16:creationId xmlns:a16="http://schemas.microsoft.com/office/drawing/2014/main" id="{88F6DA3E-F71C-4745-9695-774B7E7C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關聯身分</a:t>
            </a:r>
          </a:p>
        </p:txBody>
      </p:sp>
      <p:sp>
        <p:nvSpPr>
          <p:cNvPr id="7" name="rd0">
            <a:extLst xmlns:a="http://schemas.openxmlformats.org/drawingml/2006/main">
              <a:ext uri="{FF2B5EF4-FFF2-40B4-BE49-F238E27FC236}">
                <a16:creationId xmlns:a16="http://schemas.microsoft.com/office/drawing/2014/main" id="{A6368930-4FA6-4AD3-8C68-025F09CE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240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A"/>
                </a:solidFill>
              </a:defRPr>
            </a:pPr>
            <a:r>
              <a:rPr sz="1425" b="0">
                <a:solidFill>
                  <a:srgbClr val="17233A"/>
                </a:solidFill>
              </a:rPr>
              <a:t>Disease ID、Target ID、drug、clinicalReportId</a:t>
            </a:r>
          </a:p>
        </p:txBody>
      </p:sp>
      <p:sp>
        <p:nvSpPr>
          <p:cNvPr id="8" name="cov0">
            <a:extLst xmlns:a="http://schemas.openxmlformats.org/drawingml/2006/main">
              <a:ext uri="{FF2B5EF4-FFF2-40B4-BE49-F238E27FC236}">
                <a16:creationId xmlns:a16="http://schemas.microsoft.com/office/drawing/2014/main" id="{E8B4E69D-C785-4F74-B931-FEA2F547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v0">
            <a:extLst xmlns:a="http://schemas.openxmlformats.org/drawingml/2006/main">
              <a:ext uri="{FF2B5EF4-FFF2-40B4-BE49-F238E27FC236}">
                <a16:creationId xmlns:a16="http://schemas.microsoft.com/office/drawing/2014/main" id="{B6FC3186-77BB-468A-8417-FF5582E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16B"/>
                </a:solidFill>
              </a:defRPr>
            </a:pPr>
            <a:r>
              <a:rPr sz="1350" b="1">
                <a:solidFill>
                  <a:srgbClr val="59616B"/>
                </a:solidFill>
              </a:rPr>
              <a:t>143 / 143</a:t>
            </a:r>
          </a:p>
        </p:txBody>
      </p:sp>
      <p:sp>
        <p:nvSpPr>
          <p:cNvPr id="10" name="num1">
            <a:extLst xmlns:a="http://schemas.openxmlformats.org/drawingml/2006/main">
              <a:ext uri="{FF2B5EF4-FFF2-40B4-BE49-F238E27FC236}">
                <a16:creationId xmlns:a16="http://schemas.microsoft.com/office/drawing/2014/main" id="{ACEA92AB-193D-4005-AE1E-E0D27399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rh1">
            <a:extLst xmlns:a="http://schemas.openxmlformats.org/drawingml/2006/main">
              <a:ext uri="{FF2B5EF4-FFF2-40B4-BE49-F238E27FC236}">
                <a16:creationId xmlns:a16="http://schemas.microsoft.com/office/drawing/2014/main" id="{54EFB014-D1E2-4769-A950-BED64253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臨床成熟度</a:t>
            </a:r>
          </a:p>
        </p:txBody>
      </p:sp>
      <p:sp>
        <p:nvSpPr>
          <p:cNvPr id="12" name="rd1">
            <a:extLst xmlns:a="http://schemas.openxmlformats.org/drawingml/2006/main">
              <a:ext uri="{FF2B5EF4-FFF2-40B4-BE49-F238E27FC236}">
                <a16:creationId xmlns:a16="http://schemas.microsoft.com/office/drawing/2014/main" id="{9581E636-CFA4-43BC-9D96-0868EE10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A"/>
                </a:solidFill>
              </a:defRPr>
            </a:pPr>
            <a:r>
              <a:rPr sz="1425" b="0">
                <a:solidFill>
                  <a:srgbClr val="17233A"/>
                </a:solidFill>
              </a:rPr>
              <a:t>clinicalStage、Approval、study/evidence date</a:t>
            </a:r>
          </a:p>
        </p:txBody>
      </p:sp>
      <p:sp>
        <p:nvSpPr>
          <p:cNvPr id="13" name="cov1">
            <a:extLst xmlns:a="http://schemas.openxmlformats.org/drawingml/2006/main">
              <a:ext uri="{FF2B5EF4-FFF2-40B4-BE49-F238E27FC236}">
                <a16:creationId xmlns:a16="http://schemas.microsoft.com/office/drawing/2014/main" id="{D57838B2-B755-4C74-8271-B08228F6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v1">
            <a:extLst xmlns:a="http://schemas.openxmlformats.org/drawingml/2006/main">
              <a:ext uri="{FF2B5EF4-FFF2-40B4-BE49-F238E27FC236}">
                <a16:creationId xmlns:a16="http://schemas.microsoft.com/office/drawing/2014/main" id="{550995C3-BF38-4E95-85E0-1DA24722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432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16B"/>
                </a:solidFill>
              </a:defRPr>
            </a:pPr>
            <a:r>
              <a:rPr sz="1350" b="1">
                <a:solidFill>
                  <a:srgbClr val="59616B"/>
                </a:solidFill>
              </a:rPr>
              <a:t>143；日期 118</a:t>
            </a:r>
          </a:p>
        </p:txBody>
      </p:sp>
      <p:sp>
        <p:nvSpPr>
          <p:cNvPr id="15" name="num2">
            <a:extLst xmlns:a="http://schemas.openxmlformats.org/drawingml/2006/main">
              <a:ext uri="{FF2B5EF4-FFF2-40B4-BE49-F238E27FC236}">
                <a16:creationId xmlns:a16="http://schemas.microsoft.com/office/drawing/2014/main" id="{CDCF62B4-E5AB-4654-9C7A-B25782E8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rh2">
            <a:extLst xmlns:a="http://schemas.openxmlformats.org/drawingml/2006/main">
              <a:ext uri="{FF2B5EF4-FFF2-40B4-BE49-F238E27FC236}">
                <a16:creationId xmlns:a16="http://schemas.microsoft.com/office/drawing/2014/main" id="{5F360FC5-0050-4B4F-BD02-7098C12D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結果與風險</a:t>
            </a:r>
          </a:p>
        </p:txBody>
      </p:sp>
      <p:sp>
        <p:nvSpPr>
          <p:cNvPr id="17" name="rd2">
            <a:extLst xmlns:a="http://schemas.openxmlformats.org/drawingml/2006/main">
              <a:ext uri="{FF2B5EF4-FFF2-40B4-BE49-F238E27FC236}">
                <a16:creationId xmlns:a16="http://schemas.microsoft.com/office/drawing/2014/main" id="{6E8017CD-3490-4D8F-A68F-DB0D5DE5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A"/>
                </a:solidFill>
              </a:defRPr>
            </a:pPr>
            <a:r>
              <a:rPr sz="1425" b="0">
                <a:solidFill>
                  <a:srgbClr val="17233A"/>
                </a:solidFill>
              </a:rPr>
              <a:t>trialWhyStopped、Negative、Safety 類別</a:t>
            </a:r>
          </a:p>
        </p:txBody>
      </p:sp>
      <p:sp>
        <p:nvSpPr>
          <p:cNvPr id="18" name="cov2">
            <a:extLst xmlns:a="http://schemas.openxmlformats.org/drawingml/2006/main">
              <a:ext uri="{FF2B5EF4-FFF2-40B4-BE49-F238E27FC236}">
                <a16:creationId xmlns:a16="http://schemas.microsoft.com/office/drawing/2014/main" id="{BF0292A8-7248-4E8C-B52C-283D97A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v2">
            <a:extLst xmlns:a="http://schemas.openxmlformats.org/drawingml/2006/main">
              <a:ext uri="{FF2B5EF4-FFF2-40B4-BE49-F238E27FC236}">
                <a16:creationId xmlns:a16="http://schemas.microsoft.com/office/drawing/2014/main" id="{0814D825-11F3-4D7E-9EF3-CA8548B6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24 / 143</a:t>
            </a:r>
          </a:p>
        </p:txBody>
      </p:sp>
      <p:sp>
        <p:nvSpPr>
          <p:cNvPr id="20" name="num3">
            <a:extLst xmlns:a="http://schemas.openxmlformats.org/drawingml/2006/main">
              <a:ext uri="{FF2B5EF4-FFF2-40B4-BE49-F238E27FC236}">
                <a16:creationId xmlns:a16="http://schemas.microsoft.com/office/drawing/2014/main" id="{6E6C35C3-840F-40B3-BB47-9150E77D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rh3">
            <a:extLst xmlns:a="http://schemas.openxmlformats.org/drawingml/2006/main">
              <a:ext uri="{FF2B5EF4-FFF2-40B4-BE49-F238E27FC236}">
                <a16:creationId xmlns:a16="http://schemas.microsoft.com/office/drawing/2014/main" id="{36C0FE01-7335-4692-AE37-2D142552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作用方向</a:t>
            </a:r>
          </a:p>
        </p:txBody>
      </p:sp>
      <p:sp>
        <p:nvSpPr>
          <p:cNvPr id="22" name="rd3">
            <a:extLst xmlns:a="http://schemas.openxmlformats.org/drawingml/2006/main">
              <a:ext uri="{FF2B5EF4-FFF2-40B4-BE49-F238E27FC236}">
                <a16:creationId xmlns:a16="http://schemas.microsoft.com/office/drawing/2014/main" id="{55D64EAB-640D-4083-9F42-D451F204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A"/>
                </a:solidFill>
              </a:defRPr>
            </a:pPr>
            <a:r>
              <a:rPr sz="1425" b="0">
                <a:solidFill>
                  <a:srgbClr val="17233A"/>
                </a:solidFill>
              </a:rPr>
              <a:t>directionOnTarget、directionOnTrait</a:t>
            </a:r>
          </a:p>
        </p:txBody>
      </p:sp>
      <p:sp>
        <p:nvSpPr>
          <p:cNvPr id="23" name="cov3">
            <a:extLst xmlns:a="http://schemas.openxmlformats.org/drawingml/2006/main">
              <a:ext uri="{FF2B5EF4-FFF2-40B4-BE49-F238E27FC236}">
                <a16:creationId xmlns:a16="http://schemas.microsoft.com/office/drawing/2014/main" id="{61AD71A0-11CA-436E-87CF-39E0F2D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v3">
            <a:extLst xmlns:a="http://schemas.openxmlformats.org/drawingml/2006/main">
              <a:ext uri="{FF2B5EF4-FFF2-40B4-BE49-F238E27FC236}">
                <a16:creationId xmlns:a16="http://schemas.microsoft.com/office/drawing/2014/main" id="{1ED19C94-8582-4CB2-A9BF-0606B85D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16B"/>
                </a:solidFill>
              </a:defRPr>
            </a:pPr>
            <a:r>
              <a:rPr sz="1350" b="1">
                <a:solidFill>
                  <a:srgbClr val="59616B"/>
                </a:solidFill>
              </a:rPr>
              <a:t>62 / 143；143 / 143</a:t>
            </a:r>
          </a:p>
        </p:txBody>
      </p:sp>
      <p:sp>
        <p:nvSpPr>
          <p:cNvPr id="25" name="num4">
            <a:extLst xmlns:a="http://schemas.openxmlformats.org/drawingml/2006/main">
              <a:ext uri="{FF2B5EF4-FFF2-40B4-BE49-F238E27FC236}">
                <a16:creationId xmlns:a16="http://schemas.microsoft.com/office/drawing/2014/main" id="{8FAAF34E-05DF-4553-956D-29675316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6" name="rh4">
            <a:extLst xmlns:a="http://schemas.openxmlformats.org/drawingml/2006/main">
              <a:ext uri="{FF2B5EF4-FFF2-40B4-BE49-F238E27FC236}">
                <a16:creationId xmlns:a16="http://schemas.microsoft.com/office/drawing/2014/main" id="{892328E4-01F5-478D-A81D-6600A241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來源與可追溯性</a:t>
            </a:r>
          </a:p>
        </p:txBody>
      </p:sp>
      <p:sp>
        <p:nvSpPr>
          <p:cNvPr id="27" name="rd4">
            <a:extLst xmlns:a="http://schemas.openxmlformats.org/drawingml/2006/main">
              <a:ext uri="{FF2B5EF4-FFF2-40B4-BE49-F238E27FC236}">
                <a16:creationId xmlns:a16="http://schemas.microsoft.com/office/drawing/2014/main" id="{4A128F46-EA6C-41A8-A967-F9CC960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A"/>
                </a:solidFill>
              </a:defRPr>
            </a:pPr>
            <a:r>
              <a:rPr sz="1425" b="0">
                <a:solidFill>
                  <a:srgbClr val="17233A"/>
                </a:solidFill>
              </a:rPr>
              <a:t>evidence ID、score、literature、datasource</a:t>
            </a:r>
          </a:p>
        </p:txBody>
      </p:sp>
      <p:sp>
        <p:nvSpPr>
          <p:cNvPr id="28" name="cov4">
            <a:extLst xmlns:a="http://schemas.openxmlformats.org/drawingml/2006/main">
              <a:ext uri="{FF2B5EF4-FFF2-40B4-BE49-F238E27FC236}">
                <a16:creationId xmlns:a16="http://schemas.microsoft.com/office/drawing/2014/main" id="{AD968CAC-D7CB-4551-BFC1-52DC6D00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863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v4">
            <a:extLst xmlns:a="http://schemas.openxmlformats.org/drawingml/2006/main">
              <a:ext uri="{FF2B5EF4-FFF2-40B4-BE49-F238E27FC236}">
                <a16:creationId xmlns:a16="http://schemas.microsoft.com/office/drawing/2014/main" id="{572B617A-A8D9-46EE-97E2-6F7D816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863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16B"/>
                </a:solidFill>
              </a:defRPr>
            </a:pPr>
            <a:r>
              <a:rPr sz="1350" b="1">
                <a:solidFill>
                  <a:srgbClr val="59616B"/>
                </a:solidFill>
              </a:rPr>
              <a:t>ID 143；文獻 65</a:t>
            </a:r>
          </a:p>
        </p:txBody>
      </p:sp>
      <p:sp>
        <p:nvSpPr>
          <p:cNvPr id="30" name="decision">
            <a:extLst xmlns:a="http://schemas.openxmlformats.org/drawingml/2006/main">
              <a:ext uri="{FF2B5EF4-FFF2-40B4-BE49-F238E27FC236}">
                <a16:creationId xmlns:a16="http://schemas.microsoft.com/office/drawing/2014/main" id="{3DE61E52-C6EA-40B6-BE4A-179F75E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080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t">
            <a:extLst xmlns:a="http://schemas.openxmlformats.org/drawingml/2006/main">
              <a:ext uri="{FF2B5EF4-FFF2-40B4-BE49-F238E27FC236}">
                <a16:creationId xmlns:a16="http://schemas.microsoft.com/office/drawing/2014/main" id="{A5674820-CDB0-40A4-970A-F8338AAE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A"/>
                </a:solidFill>
              </a:defRPr>
            </a:pPr>
            <a:r>
              <a:rPr sz="1500" b="1">
                <a:solidFill>
                  <a:srgbClr val="17233A"/>
                </a:solidFill>
              </a:rPr>
              <a:t>決策方式：每組標記「摘要必留／raw-only／不收集」，再形成正式 schema。</a:t>
            </a:r>
          </a:p>
        </p:txBody>
      </p:sp>
    </p:spTree>
    <p:extLst>
      <p:ext uri="{BB962C8B-B14F-4D97-AF65-F5344CB8AC3E}">
        <p14:creationId xmlns:p14="http://schemas.microsoft.com/office/powerpoint/2010/main" val="1401552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">
            <a:extLst xmlns:a="http://schemas.openxmlformats.org/drawingml/2006/main">
              <a:ext uri="{FF2B5EF4-FFF2-40B4-BE49-F238E27FC236}">
                <a16:creationId xmlns:a16="http://schemas.microsoft.com/office/drawing/2014/main" id="{B0FE6493-15CA-4F74-9CED-605095F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16B"/>
                </a:solidFill>
              </a:defRPr>
            </a:pPr>
            <a:r>
              <a:rPr sz="975" b="1">
                <a:solidFill>
                  <a:srgbClr val="59616B"/>
                </a:solidFill>
              </a:rPr>
              <a:t>NCKU OPEN MODEL DRUG DISCOVERY ASSISTANT</a:t>
            </a:r>
          </a:p>
        </p:txBody>
      </p:sp>
      <p:sp>
        <p:nvSpPr>
          <p:cNvPr id="2" name="pg">
            <a:extLst xmlns:a="http://schemas.openxmlformats.org/drawingml/2006/main">
              <a:ext uri="{FF2B5EF4-FFF2-40B4-BE49-F238E27FC236}">
                <a16:creationId xmlns:a16="http://schemas.microsoft.com/office/drawing/2014/main" id="{2416D3EA-99D5-43EF-9FEE-96DB3E5C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</a:defRPr>
            </a:pPr>
            <a:r>
              <a:rPr sz="975" b="0">
                <a:solidFill>
                  <a:srgbClr val="59616B"/>
                </a:solidFill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32CAF9-F55F-4912-8EAA-82301989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Agent 2｜從證據包到 Target–Drug 分析結果</a:t>
            </a:r>
          </a:p>
        </p:txBody>
      </p:sp>
      <p:sp>
        <p:nvSpPr>
          <p:cNvPr id="4" name="a">
            <a:extLst xmlns:a="http://schemas.openxmlformats.org/drawingml/2006/main">
              <a:ext uri="{FF2B5EF4-FFF2-40B4-BE49-F238E27FC236}">
                <a16:creationId xmlns:a16="http://schemas.microsoft.com/office/drawing/2014/main" id="{B8BC4F41-48A6-45B5-A18E-CFEBC203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9A72"/>
                </a:solidFill>
              </a:defRPr>
            </a:pPr>
            <a:r>
              <a:rPr sz="2025" b="1">
                <a:solidFill>
                  <a:srgbClr val="1B9A72"/>
                </a:solidFill>
              </a:rPr>
              <a:t>→</a:t>
            </a:r>
          </a:p>
        </p:txBody>
      </p:sp>
      <p:sp>
        <p:nvSpPr>
          <p:cNvPr id="5" name="b">
            <a:extLst xmlns:a="http://schemas.openxmlformats.org/drawingml/2006/main">
              <a:ext uri="{FF2B5EF4-FFF2-40B4-BE49-F238E27FC236}">
                <a16:creationId xmlns:a16="http://schemas.microsoft.com/office/drawing/2014/main" id="{8052410D-8149-4E62-936F-A8379112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9A72"/>
                </a:solidFill>
              </a:defRPr>
            </a:pPr>
            <a:r>
              <a:rPr sz="2025" b="1">
                <a:solidFill>
                  <a:srgbClr val="1B9A72"/>
                </a:solidFill>
              </a:rPr>
              <a:t>→</a:t>
            </a:r>
          </a:p>
        </p:txBody>
      </p:sp>
      <p:sp>
        <p:nvSpPr>
          <p:cNvPr id="6" name="c">
            <a:extLst xmlns:a="http://schemas.openxmlformats.org/drawingml/2006/main">
              <a:ext uri="{FF2B5EF4-FFF2-40B4-BE49-F238E27FC236}">
                <a16:creationId xmlns:a16="http://schemas.microsoft.com/office/drawing/2014/main" id="{C4199BEA-4F13-4C48-9A2F-0C9B643D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9A72"/>
                </a:solidFill>
              </a:defRPr>
            </a:pPr>
            <a:r>
              <a:rPr sz="2025" b="1">
                <a:solidFill>
                  <a:srgbClr val="1B9A72"/>
                </a:solidFill>
              </a:rPr>
              <a:t>→</a:t>
            </a:r>
          </a:p>
        </p:txBody>
      </p:sp>
      <p:sp>
        <p:nvSpPr>
          <p:cNvPr id="7" name="ic11-bg">
            <a:extLst xmlns:a="http://schemas.openxmlformats.org/drawingml/2006/main">
              <a:ext uri="{FF2B5EF4-FFF2-40B4-BE49-F238E27FC236}">
                <a16:creationId xmlns:a16="http://schemas.microsoft.com/office/drawing/2014/main" id="{5C325BED-F93E-4255-9D11-300210F0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c11">
            <a:extLst xmlns:a="http://schemas.openxmlformats.org/drawingml/2006/main">
              <a:ext uri="{FF2B5EF4-FFF2-40B4-BE49-F238E27FC236}">
                <a16:creationId xmlns:a16="http://schemas.microsoft.com/office/drawing/2014/main" id="{6CA6ECCD-0E9F-4A06-A549-72FAE665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▤</a:t>
            </a:r>
          </a:p>
        </p:txBody>
      </p:sp>
      <p:sp>
        <p:nvSpPr>
          <p:cNvPr id="9" name="sh11">
            <a:extLst xmlns:a="http://schemas.openxmlformats.org/drawingml/2006/main">
              <a:ext uri="{FF2B5EF4-FFF2-40B4-BE49-F238E27FC236}">
                <a16:creationId xmlns:a16="http://schemas.microsoft.com/office/drawing/2014/main" id="{71AD1A07-0956-472E-8AD5-F042CFDC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讀取</a:t>
            </a:r>
          </a:p>
        </p:txBody>
      </p:sp>
      <p:sp>
        <p:nvSpPr>
          <p:cNvPr id="10" name="sd11">
            <a:extLst xmlns:a="http://schemas.openxmlformats.org/drawingml/2006/main">
              <a:ext uri="{FF2B5EF4-FFF2-40B4-BE49-F238E27FC236}">
                <a16:creationId xmlns:a16="http://schemas.microsoft.com/office/drawing/2014/main" id="{BB304F02-9D9B-4441-B27D-74CEF8F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只接受通過 schema 的證據包</a:t>
            </a:r>
          </a:p>
        </p:txBody>
      </p:sp>
      <p:sp>
        <p:nvSpPr>
          <p:cNvPr id="11" name="ic12-bg">
            <a:extLst xmlns:a="http://schemas.openxmlformats.org/drawingml/2006/main">
              <a:ext uri="{FF2B5EF4-FFF2-40B4-BE49-F238E27FC236}">
                <a16:creationId xmlns:a16="http://schemas.microsoft.com/office/drawing/2014/main" id="{419FD06E-3A04-4761-80E2-B6F05C6C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c12">
            <a:extLst xmlns:a="http://schemas.openxmlformats.org/drawingml/2006/main">
              <a:ext uri="{FF2B5EF4-FFF2-40B4-BE49-F238E27FC236}">
                <a16:creationId xmlns:a16="http://schemas.microsoft.com/office/drawing/2014/main" id="{3B11D872-E263-462C-97D9-2462EA6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≠</a:t>
            </a:r>
          </a:p>
        </p:txBody>
      </p:sp>
      <p:sp>
        <p:nvSpPr>
          <p:cNvPr id="13" name="sh12">
            <a:extLst xmlns:a="http://schemas.openxmlformats.org/drawingml/2006/main">
              <a:ext uri="{FF2B5EF4-FFF2-40B4-BE49-F238E27FC236}">
                <a16:creationId xmlns:a16="http://schemas.microsoft.com/office/drawing/2014/main" id="{339F5AC8-8B85-4CEF-9AC2-733BCB4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比較</a:t>
            </a:r>
          </a:p>
        </p:txBody>
      </p:sp>
      <p:sp>
        <p:nvSpPr>
          <p:cNvPr id="14" name="sd12">
            <a:extLst xmlns:a="http://schemas.openxmlformats.org/drawingml/2006/main">
              <a:ext uri="{FF2B5EF4-FFF2-40B4-BE49-F238E27FC236}">
                <a16:creationId xmlns:a16="http://schemas.microsoft.com/office/drawing/2014/main" id="{60C8237F-5CE2-411E-9518-03DF0B5D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整理 potency、selectivity、臨床與 ADMET</a:t>
            </a:r>
          </a:p>
        </p:txBody>
      </p:sp>
      <p:sp>
        <p:nvSpPr>
          <p:cNvPr id="15" name="ic13-bg">
            <a:extLst xmlns:a="http://schemas.openxmlformats.org/drawingml/2006/main">
              <a:ext uri="{FF2B5EF4-FFF2-40B4-BE49-F238E27FC236}">
                <a16:creationId xmlns:a16="http://schemas.microsoft.com/office/drawing/2014/main" id="{3B3D7149-1563-48EF-92A8-DF6D23CA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c13">
            <a:extLst xmlns:a="http://schemas.openxmlformats.org/drawingml/2006/main">
              <a:ext uri="{FF2B5EF4-FFF2-40B4-BE49-F238E27FC236}">
                <a16:creationId xmlns:a16="http://schemas.microsoft.com/office/drawing/2014/main" id="{D2957CA6-B4BC-4F0B-B56D-7ABCD7AC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7" name="sh13">
            <a:extLst xmlns:a="http://schemas.openxmlformats.org/drawingml/2006/main">
              <a:ext uri="{FF2B5EF4-FFF2-40B4-BE49-F238E27FC236}">
                <a16:creationId xmlns:a16="http://schemas.microsoft.com/office/drawing/2014/main" id="{43032C8C-7F65-46F3-9EA9-D1E7E1E2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判斷缺口</a:t>
            </a:r>
          </a:p>
        </p:txBody>
      </p:sp>
      <p:sp>
        <p:nvSpPr>
          <p:cNvPr id="18" name="sd13">
            <a:extLst xmlns:a="http://schemas.openxmlformats.org/drawingml/2006/main">
              <a:ext uri="{FF2B5EF4-FFF2-40B4-BE49-F238E27FC236}">
                <a16:creationId xmlns:a16="http://schemas.microsoft.com/office/drawing/2014/main" id="{E9318DE6-F1F5-40BF-99FE-603C32A1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區分缺失、衝突與結果不明</a:t>
            </a:r>
          </a:p>
        </p:txBody>
      </p:sp>
      <p:sp>
        <p:nvSpPr>
          <p:cNvPr id="19" name="ic14-bg">
            <a:extLst xmlns:a="http://schemas.openxmlformats.org/drawingml/2006/main">
              <a:ext uri="{FF2B5EF4-FFF2-40B4-BE49-F238E27FC236}">
                <a16:creationId xmlns:a16="http://schemas.microsoft.com/office/drawing/2014/main" id="{1836E34F-2EC0-46D7-9ED1-2DE919E9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66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c14">
            <a:extLst xmlns:a="http://schemas.openxmlformats.org/drawingml/2006/main">
              <a:ext uri="{FF2B5EF4-FFF2-40B4-BE49-F238E27FC236}">
                <a16:creationId xmlns:a16="http://schemas.microsoft.com/office/drawing/2014/main" id="{A7E2DC51-CD94-46B3-BAEC-68C99786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66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sh14">
            <a:extLst xmlns:a="http://schemas.openxmlformats.org/drawingml/2006/main">
              <a:ext uri="{FF2B5EF4-FFF2-40B4-BE49-F238E27FC236}">
                <a16:creationId xmlns:a16="http://schemas.microsoft.com/office/drawing/2014/main" id="{D916DC98-59A5-44A1-B648-AA46DE7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解讀</a:t>
            </a:r>
          </a:p>
        </p:txBody>
      </p:sp>
      <p:sp>
        <p:nvSpPr>
          <p:cNvPr id="22" name="sd14">
            <a:extLst xmlns:a="http://schemas.openxmlformats.org/drawingml/2006/main">
              <a:ext uri="{FF2B5EF4-FFF2-40B4-BE49-F238E27FC236}">
                <a16:creationId xmlns:a16="http://schemas.microsoft.com/office/drawing/2014/main" id="{F8E0BE1A-EAD0-4069-9C16-83FFBAF3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</a:defRPr>
            </a:pPr>
            <a:r>
              <a:rPr sz="1275" b="0">
                <a:solidFill>
                  <a:srgbClr val="59616B"/>
                </a:solidFill>
              </a:rPr>
              <a:t>形成 disease–target–drug 證據結論</a:t>
            </a:r>
          </a:p>
        </p:txBody>
      </p:sp>
      <p:sp>
        <p:nvSpPr>
          <p:cNvPr id="23" name="details">
            <a:extLst xmlns:a="http://schemas.openxmlformats.org/drawingml/2006/main">
              <a:ext uri="{FF2B5EF4-FFF2-40B4-BE49-F238E27FC236}">
                <a16:creationId xmlns:a16="http://schemas.microsoft.com/office/drawing/2014/main" id="{E68A5D4E-2A4D-45D2-941F-1A21FE6E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800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h">
            <a:extLst xmlns:a="http://schemas.openxmlformats.org/drawingml/2006/main">
              <a:ext uri="{FF2B5EF4-FFF2-40B4-BE49-F238E27FC236}">
                <a16:creationId xmlns:a16="http://schemas.microsoft.com/office/drawing/2014/main" id="{84788E1F-64ED-4A96-8EDE-5943CC07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分析細項</a:t>
            </a:r>
          </a:p>
        </p:txBody>
      </p:sp>
      <p:sp>
        <p:nvSpPr>
          <p:cNvPr id="25" name="d1b">
            <a:extLst xmlns:a="http://schemas.openxmlformats.org/drawingml/2006/main">
              <a:ext uri="{FF2B5EF4-FFF2-40B4-BE49-F238E27FC236}">
                <a16:creationId xmlns:a16="http://schemas.microsoft.com/office/drawing/2014/main" id="{7D1337F3-40FE-46F2-943B-3EF7C2E9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1">
            <a:extLst xmlns:a="http://schemas.openxmlformats.org/drawingml/2006/main">
              <a:ext uri="{FF2B5EF4-FFF2-40B4-BE49-F238E27FC236}">
                <a16:creationId xmlns:a16="http://schemas.microsoft.com/office/drawing/2014/main" id="{2F4D9CF3-1766-4A23-9681-E8D84762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860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不自行查任何外部資料庫</a:t>
            </a:r>
          </a:p>
        </p:txBody>
      </p:sp>
      <p:sp>
        <p:nvSpPr>
          <p:cNvPr id="27" name="d2b">
            <a:extLst xmlns:a="http://schemas.openxmlformats.org/drawingml/2006/main">
              <a:ext uri="{FF2B5EF4-FFF2-40B4-BE49-F238E27FC236}">
                <a16:creationId xmlns:a16="http://schemas.microsoft.com/office/drawing/2014/main" id="{28FF2066-562F-4E69-98CC-A06A866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2">
            <a:extLst xmlns:a="http://schemas.openxmlformats.org/drawingml/2006/main">
              <a:ext uri="{FF2B5EF4-FFF2-40B4-BE49-F238E27FC236}">
                <a16:creationId xmlns:a16="http://schemas.microsoft.com/office/drawing/2014/main" id="{DC9EC269-0F41-4FE5-AE3F-10F91E36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事實／比較／解讀分開</a:t>
            </a:r>
          </a:p>
        </p:txBody>
      </p:sp>
      <p:sp>
        <p:nvSpPr>
          <p:cNvPr id="29" name="d3b">
            <a:extLst xmlns:a="http://schemas.openxmlformats.org/drawingml/2006/main">
              <a:ext uri="{FF2B5EF4-FFF2-40B4-BE49-F238E27FC236}">
                <a16:creationId xmlns:a16="http://schemas.microsoft.com/office/drawing/2014/main" id="{BF7E10FB-5B80-4444-A97B-E6654173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3">
            <a:extLst xmlns:a="http://schemas.openxmlformats.org/drawingml/2006/main">
              <a:ext uri="{FF2B5EF4-FFF2-40B4-BE49-F238E27FC236}">
                <a16:creationId xmlns:a16="http://schemas.microsoft.com/office/drawing/2014/main" id="{708B477D-272C-4FBA-8FC9-BCF94FAA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不能用紀錄數判定有效</a:t>
            </a:r>
          </a:p>
        </p:txBody>
      </p:sp>
      <p:sp>
        <p:nvSpPr>
          <p:cNvPr id="31" name="d4b">
            <a:extLst xmlns:a="http://schemas.openxmlformats.org/drawingml/2006/main">
              <a:ext uri="{FF2B5EF4-FFF2-40B4-BE49-F238E27FC236}">
                <a16:creationId xmlns:a16="http://schemas.microsoft.com/office/drawing/2014/main" id="{E9854D8C-8968-43B0-AF7C-64265987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4">
            <a:extLst xmlns:a="http://schemas.openxmlformats.org/drawingml/2006/main">
              <a:ext uri="{FF2B5EF4-FFF2-40B4-BE49-F238E27FC236}">
                <a16:creationId xmlns:a16="http://schemas.microsoft.com/office/drawing/2014/main" id="{D3B6230C-7FD3-4AC2-8119-E94D4CA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576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不足時提出 EvidenceRequest</a:t>
            </a:r>
          </a:p>
        </p:txBody>
      </p:sp>
      <p:sp>
        <p:nvSpPr>
          <p:cNvPr id="33" name="d5b">
            <a:extLst xmlns:a="http://schemas.openxmlformats.org/drawingml/2006/main">
              <a:ext uri="{FF2B5EF4-FFF2-40B4-BE49-F238E27FC236}">
                <a16:creationId xmlns:a16="http://schemas.microsoft.com/office/drawing/2014/main" id="{CAB802FF-CB97-4902-93E3-D940F330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5">
            <a:extLst xmlns:a="http://schemas.openxmlformats.org/drawingml/2006/main">
              <a:ext uri="{FF2B5EF4-FFF2-40B4-BE49-F238E27FC236}">
                <a16:creationId xmlns:a16="http://schemas.microsoft.com/office/drawing/2014/main" id="{8DD2EA8C-785F-4E3A-A305-6D8B099E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148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不自行產生 confidence score</a:t>
            </a:r>
          </a:p>
        </p:txBody>
      </p:sp>
      <p:sp>
        <p:nvSpPr>
          <p:cNvPr id="35" name="end">
            <a:extLst xmlns:a="http://schemas.openxmlformats.org/drawingml/2006/main">
              <a:ext uri="{FF2B5EF4-FFF2-40B4-BE49-F238E27FC236}">
                <a16:creationId xmlns:a16="http://schemas.microsoft.com/office/drawing/2014/main" id="{55426352-F2C0-4EB8-941C-BB0D7BE9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767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ndt">
            <a:extLst xmlns:a="http://schemas.openxmlformats.org/drawingml/2006/main">
              <a:ext uri="{FF2B5EF4-FFF2-40B4-BE49-F238E27FC236}">
                <a16:creationId xmlns:a16="http://schemas.microsoft.com/office/drawing/2014/main" id="{DEA73C17-3D1A-4953-8C21-3C38BE1D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43525"/>
            <a:ext cx="725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結束輸出：TargetDrugLinkCard 或結構化 EvidenceRequest</a:t>
            </a:r>
          </a:p>
        </p:txBody>
      </p:sp>
    </p:spTree>
    <p:extLst>
      <p:ext uri="{BB962C8B-B14F-4D97-AF65-F5344CB8AC3E}">
        <p14:creationId xmlns:p14="http://schemas.microsoft.com/office/powerpoint/2010/main" val="120888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">
            <a:extLst xmlns:a="http://schemas.openxmlformats.org/drawingml/2006/main">
              <a:ext uri="{FF2B5EF4-FFF2-40B4-BE49-F238E27FC236}">
                <a16:creationId xmlns:a16="http://schemas.microsoft.com/office/drawing/2014/main" id="{79A28A60-5DC8-4174-8A21-8DF56E19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16B"/>
                </a:solidFill>
              </a:defRPr>
            </a:pPr>
            <a:r>
              <a:rPr sz="975" b="1">
                <a:solidFill>
                  <a:srgbClr val="59616B"/>
                </a:solidFill>
              </a:rPr>
              <a:t>NCKU OPEN MODEL DRUG DISCOVERY ASSISTANT</a:t>
            </a:r>
          </a:p>
        </p:txBody>
      </p:sp>
      <p:sp>
        <p:nvSpPr>
          <p:cNvPr id="2" name="pg">
            <a:extLst xmlns:a="http://schemas.openxmlformats.org/drawingml/2006/main">
              <a:ext uri="{FF2B5EF4-FFF2-40B4-BE49-F238E27FC236}">
                <a16:creationId xmlns:a16="http://schemas.microsoft.com/office/drawing/2014/main" id="{178D5A9B-8ECF-4284-92E5-F5C1B3F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</a:defRPr>
            </a:pPr>
            <a:r>
              <a:rPr sz="975" b="0">
                <a:solidFill>
                  <a:srgbClr val="59616B"/>
                </a:solidFill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CD66F7-FA27-4A77-A2DE-A9F13095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兩個 Agent 的結束條件與目前待決定事項</a:t>
            </a:r>
          </a:p>
        </p:txBody>
      </p:sp>
      <p:sp>
        <p:nvSpPr>
          <p:cNvPr id="4" name="l">
            <a:extLst xmlns:a="http://schemas.openxmlformats.org/drawingml/2006/main">
              <a:ext uri="{FF2B5EF4-FFF2-40B4-BE49-F238E27FC236}">
                <a16:creationId xmlns:a16="http://schemas.microsoft.com/office/drawing/2014/main" id="{516BB886-7958-447B-91A6-0D9D02C9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5143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t">
            <a:extLst xmlns:a="http://schemas.openxmlformats.org/drawingml/2006/main">
              <a:ext uri="{FF2B5EF4-FFF2-40B4-BE49-F238E27FC236}">
                <a16:creationId xmlns:a16="http://schemas.microsoft.com/office/drawing/2014/main" id="{2FA04465-7E30-48F6-B00F-B5C7D27C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AGENT 1 結束</a:t>
            </a:r>
          </a:p>
        </p:txBody>
      </p:sp>
      <p:sp>
        <p:nvSpPr>
          <p:cNvPr id="6" name="l1b">
            <a:extLst xmlns:a="http://schemas.openxmlformats.org/drawingml/2006/main">
              <a:ext uri="{FF2B5EF4-FFF2-40B4-BE49-F238E27FC236}">
                <a16:creationId xmlns:a16="http://schemas.microsoft.com/office/drawing/2014/main" id="{D679DB32-76F1-480D-9D40-08FA2833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1">
            <a:extLst xmlns:a="http://schemas.openxmlformats.org/drawingml/2006/main">
              <a:ext uri="{FF2B5EF4-FFF2-40B4-BE49-F238E27FC236}">
                <a16:creationId xmlns:a16="http://schemas.microsoft.com/office/drawing/2014/main" id="{F7DD759C-9B82-443E-9C6B-95373CAD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必要資料來源已執行或記錄失敗</a:t>
            </a:r>
          </a:p>
        </p:txBody>
      </p:sp>
      <p:sp>
        <p:nvSpPr>
          <p:cNvPr id="8" name="l2b">
            <a:extLst xmlns:a="http://schemas.openxmlformats.org/drawingml/2006/main">
              <a:ext uri="{FF2B5EF4-FFF2-40B4-BE49-F238E27FC236}">
                <a16:creationId xmlns:a16="http://schemas.microsoft.com/office/drawing/2014/main" id="{D7204D0F-71A2-47F2-8E65-829BDD9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2">
            <a:extLst xmlns:a="http://schemas.openxmlformats.org/drawingml/2006/main">
              <a:ext uri="{FF2B5EF4-FFF2-40B4-BE49-F238E27FC236}">
                <a16:creationId xmlns:a16="http://schemas.microsoft.com/office/drawing/2014/main" id="{18209AC7-0868-4283-8896-BB0F12F7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分頁、截斷與數量已記錄</a:t>
            </a:r>
          </a:p>
        </p:txBody>
      </p:sp>
      <p:sp>
        <p:nvSpPr>
          <p:cNvPr id="10" name="l3b">
            <a:extLst xmlns:a="http://schemas.openxmlformats.org/drawingml/2006/main">
              <a:ext uri="{FF2B5EF4-FFF2-40B4-BE49-F238E27FC236}">
                <a16:creationId xmlns:a16="http://schemas.microsoft.com/office/drawing/2014/main" id="{55FB026F-F9F7-4C30-88F1-3526AC2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3">
            <a:extLst xmlns:a="http://schemas.openxmlformats.org/drawingml/2006/main">
              <a:ext uri="{FF2B5EF4-FFF2-40B4-BE49-F238E27FC236}">
                <a16:creationId xmlns:a16="http://schemas.microsoft.com/office/drawing/2014/main" id="{E8D8CD95-B0BA-409B-9F41-BA82AF2B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raw records 與摘要均通過 schema</a:t>
            </a:r>
          </a:p>
        </p:txBody>
      </p:sp>
      <p:sp>
        <p:nvSpPr>
          <p:cNvPr id="12" name="l4b">
            <a:extLst xmlns:a="http://schemas.openxmlformats.org/drawingml/2006/main">
              <a:ext uri="{FF2B5EF4-FFF2-40B4-BE49-F238E27FC236}">
                <a16:creationId xmlns:a16="http://schemas.microsoft.com/office/drawing/2014/main" id="{B95A6835-B0B5-4F30-B1E6-32535F8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4">
            <a:extLst xmlns:a="http://schemas.openxmlformats.org/drawingml/2006/main">
              <a:ext uri="{FF2B5EF4-FFF2-40B4-BE49-F238E27FC236}">
                <a16:creationId xmlns:a16="http://schemas.microsoft.com/office/drawing/2014/main" id="{888DEF82-8BCA-4ECE-877A-2D4BDD92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輸出 Stage1EvidencePackage</a:t>
            </a:r>
          </a:p>
        </p:txBody>
      </p:sp>
      <p:sp>
        <p:nvSpPr>
          <p:cNvPr id="14" name="r">
            <a:extLst xmlns:a="http://schemas.openxmlformats.org/drawingml/2006/main">
              <a:ext uri="{FF2B5EF4-FFF2-40B4-BE49-F238E27FC236}">
                <a16:creationId xmlns:a16="http://schemas.microsoft.com/office/drawing/2014/main" id="{C1A5720B-0ABB-48D2-ABBA-65765743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5143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t">
            <a:extLst xmlns:a="http://schemas.openxmlformats.org/drawingml/2006/main">
              <a:ext uri="{FF2B5EF4-FFF2-40B4-BE49-F238E27FC236}">
                <a16:creationId xmlns:a16="http://schemas.microsoft.com/office/drawing/2014/main" id="{0CF5F190-5995-4E19-ACE1-FDB24703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526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AGENT 2 結束</a:t>
            </a:r>
          </a:p>
        </p:txBody>
      </p:sp>
      <p:sp>
        <p:nvSpPr>
          <p:cNvPr id="16" name="r1b">
            <a:extLst xmlns:a="http://schemas.openxmlformats.org/drawingml/2006/main">
              <a:ext uri="{FF2B5EF4-FFF2-40B4-BE49-F238E27FC236}">
                <a16:creationId xmlns:a16="http://schemas.microsoft.com/office/drawing/2014/main" id="{B91190C2-661F-4F03-9331-D7106BD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1">
            <a:extLst xmlns:a="http://schemas.openxmlformats.org/drawingml/2006/main">
              <a:ext uri="{FF2B5EF4-FFF2-40B4-BE49-F238E27FC236}">
                <a16:creationId xmlns:a16="http://schemas.microsoft.com/office/drawing/2014/main" id="{B3398EB7-99D0-48B4-94BB-879586CA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必要分析欄位足夠 → Link Card</a:t>
            </a:r>
          </a:p>
        </p:txBody>
      </p:sp>
      <p:sp>
        <p:nvSpPr>
          <p:cNvPr id="18" name="r2b">
            <a:extLst xmlns:a="http://schemas.openxmlformats.org/drawingml/2006/main">
              <a:ext uri="{FF2B5EF4-FFF2-40B4-BE49-F238E27FC236}">
                <a16:creationId xmlns:a16="http://schemas.microsoft.com/office/drawing/2014/main" id="{27F8D1A6-BC03-469D-91DA-D516CB59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2">
            <a:extLst xmlns:a="http://schemas.openxmlformats.org/drawingml/2006/main">
              <a:ext uri="{FF2B5EF4-FFF2-40B4-BE49-F238E27FC236}">
                <a16:creationId xmlns:a16="http://schemas.microsoft.com/office/drawing/2014/main" id="{3F93AB39-E547-404B-AF05-9683CA96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重要欄位不足 → EvidenceRequest</a:t>
            </a:r>
          </a:p>
        </p:txBody>
      </p:sp>
      <p:sp>
        <p:nvSpPr>
          <p:cNvPr id="20" name="r3b">
            <a:extLst xmlns:a="http://schemas.openxmlformats.org/drawingml/2006/main">
              <a:ext uri="{FF2B5EF4-FFF2-40B4-BE49-F238E27FC236}">
                <a16:creationId xmlns:a16="http://schemas.microsoft.com/office/drawing/2014/main" id="{1AECD3E9-56B6-4948-9113-75752C0E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3">
            <a:extLst xmlns:a="http://schemas.openxmlformats.org/drawingml/2006/main">
              <a:ext uri="{FF2B5EF4-FFF2-40B4-BE49-F238E27FC236}">
                <a16:creationId xmlns:a16="http://schemas.microsoft.com/office/drawing/2014/main" id="{FAB785A9-876D-4584-A4E8-CC3B0C1B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達補查上限 → 標記 unknown/limitation</a:t>
            </a:r>
          </a:p>
        </p:txBody>
      </p:sp>
      <p:sp>
        <p:nvSpPr>
          <p:cNvPr id="22" name="r4b">
            <a:extLst xmlns:a="http://schemas.openxmlformats.org/drawingml/2006/main">
              <a:ext uri="{FF2B5EF4-FFF2-40B4-BE49-F238E27FC236}">
                <a16:creationId xmlns:a16="http://schemas.microsoft.com/office/drawing/2014/main" id="{D24FB431-E7FE-40AE-8B73-372AE8A0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4">
            <a:extLst xmlns:a="http://schemas.openxmlformats.org/drawingml/2006/main">
              <a:ext uri="{FF2B5EF4-FFF2-40B4-BE49-F238E27FC236}">
                <a16:creationId xmlns:a16="http://schemas.microsoft.com/office/drawing/2014/main" id="{2D65F6F4-770C-4631-963E-F64B454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不把 Open Targets score 當成功率</a:t>
            </a:r>
          </a:p>
        </p:txBody>
      </p:sp>
      <p:sp>
        <p:nvSpPr>
          <p:cNvPr id="24" name="pending">
            <a:extLst xmlns:a="http://schemas.openxmlformats.org/drawingml/2006/main">
              <a:ext uri="{FF2B5EF4-FFF2-40B4-BE49-F238E27FC236}">
                <a16:creationId xmlns:a16="http://schemas.microsoft.com/office/drawing/2014/main" id="{70FABBCE-E107-4CA4-981C-FFAF598F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待團隊決定</a:t>
            </a:r>
          </a:p>
        </p:txBody>
      </p:sp>
      <p:sp>
        <p:nvSpPr>
          <p:cNvPr id="25" name="p">
            <a:extLst xmlns:a="http://schemas.openxmlformats.org/drawingml/2006/main">
              <a:ext uri="{FF2B5EF4-FFF2-40B4-BE49-F238E27FC236}">
                <a16:creationId xmlns:a16="http://schemas.microsoft.com/office/drawing/2014/main" id="{1459B770-2E15-4D9B-A27A-AD6548E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A"/>
                </a:solidFill>
              </a:defRPr>
            </a:pPr>
            <a:r>
              <a:rPr sz="1575" b="1">
                <a:solidFill>
                  <a:srgbClr val="17233A"/>
                </a:solidFill>
              </a:rPr>
              <a:t>① 五組資訊的保留層級　② 每個 Target 的資料上限　③ Agent 2 必要欄位　④ 補查最多幾輪　⑤ 最終停止標準</a:t>
            </a:r>
          </a:p>
        </p:txBody>
      </p:sp>
    </p:spTree>
    <p:extLst>
      <p:ext uri="{BB962C8B-B14F-4D97-AF65-F5344CB8AC3E}">
        <p14:creationId xmlns:p14="http://schemas.microsoft.com/office/powerpoint/2010/main" val="906127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2026-08-09T15:01:17.5950000Z</dcterms:created>
  <dcterms:modified xsi:type="dcterms:W3CDTF">2026-08-09T15:01:17.5950000Z</dcterms:modified>
</coreProperties>
</file>